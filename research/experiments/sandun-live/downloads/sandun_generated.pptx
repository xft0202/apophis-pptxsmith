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BF1F8"/>
              </a:gs>
            </a:gsLst>
            <a:lin scaled="0" ang="17961465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D63ED">
                  <a:alpha val="10000"/>
                </a:srgbClr>
              </a:gs>
              <a:gs pos="100000">
                <a:srgbClr val="1D63ED">
                  <a:alpha val="0"/>
                </a:srgbClr>
              </a:gs>
            </a:gsLst>
            <a:path path="circle">
              <a:fillToRect l="88000" t="12000" r="12000" b="88000"/>
            </a:path>
            <a:tileRect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82200" y="438150"/>
            <a:ext cx="1371600" cy="1371600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1428750"/>
            <a:ext cx="381000" cy="381000"/>
          </a:xfrm>
          <a:prstGeom prst="ellipse">
            <a:avLst/>
          </a:pr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06000" y="5219700"/>
            <a:ext cx="1104900" cy="76200"/>
          </a:xfrm>
          <a:prstGeom prst="roundRect">
            <a:avLst>
              <a:gd name="adj" fmla="val 50000"/>
            </a:avLst>
          </a:pr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63300" y="5219700"/>
            <a:ext cx="342900" cy="76200"/>
          </a:xfrm>
          <a:prstGeom prst="roundRect">
            <a:avLst>
              <a:gd name="adj" fmla="val 50000"/>
            </a:avLst>
          </a:prstGeom>
          <a:solidFill>
            <a:srgbClr val="BFD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8200" y="2343150"/>
            <a:ext cx="66675" cy="1371600"/>
          </a:xfrm>
          <a:prstGeom prst="roundRect">
            <a:avLst>
              <a:gd name="adj" fmla="val 50000"/>
            </a:avLst>
          </a:pr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47900"/>
            <a:ext cx="4389120" cy="7315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2026年A股</a:t>
            </a:r>
            <a:r>
              <a:rPr sz="480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半导体设备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028950"/>
            <a:ext cx="2926080" cy="7315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行业</a:t>
            </a:r>
            <a:r>
              <a:rPr sz="480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投资价值</a:t>
            </a:r>
            <a:r>
              <a:rPr sz="48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000500"/>
            <a:ext cx="3657600" cy="3657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景气复苏与国产替代共振下的结构性成长机遇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552950"/>
            <a:ext cx="2571750" cy="2057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2026年投资策略专题  |  A股半导体设备行业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6115050"/>
            <a:ext cx="4732020" cy="2057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94A3B8"/>
                </a:solidFill>
                <a:latin typeface="HarmonyOS Sans SC"/>
                <a:ea typeface="HarmonyOS Sans SC"/>
                <a:cs typeface="HarmonyOS Sans SC"/>
              </a:rPr>
              <a:t>Presented by Investment Research Team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BF1F8"/>
              </a:gs>
            </a:gsLst>
            <a:lin scaled="0" ang="17961465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D63ED">
                  <a:alpha val="10000"/>
                </a:srgbClr>
              </a:gs>
              <a:gs pos="100000">
                <a:srgbClr val="1D63ED">
                  <a:alpha val="0"/>
                </a:srgbClr>
              </a:gs>
            </a:gsLst>
            <a:path path="circle">
              <a:fillToRect l="88000" t="12000" r="12000" b="88000"/>
            </a:path>
            <a:tileRect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1428750"/>
            <a:ext cx="5143500" cy="1676400"/>
          </a:xfrm>
          <a:prstGeom prst="roundRect">
            <a:avLst>
              <a:gd name="adj" fmla="val 4545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14400" y="1504950"/>
            <a:ext cx="48387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6" name="Rounded Rectangle 5"/>
          <p:cNvSpPr/>
          <p:nvPr/>
        </p:nvSpPr>
        <p:spPr>
          <a:xfrm>
            <a:off x="762000" y="1428750"/>
            <a:ext cx="76200" cy="1676400"/>
          </a:xfrm>
          <a:prstGeom prst="roundRect">
            <a:avLst>
              <a:gd name="adj" fmla="val 50000"/>
            </a:avLst>
          </a:pr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900" y="1666875"/>
            <a:ext cx="205740" cy="2057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2076450"/>
            <a:ext cx="148590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景气复苏驱动设备需求再上行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2514600"/>
            <a:ext cx="1440180" cy="1600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需求周期回暖，设备投资迎来新一轮上行</a:t>
            </a:r>
          </a:p>
        </p:txBody>
      </p:sp>
      <p:sp>
        <p:nvSpPr>
          <p:cNvPr id="10" name="Oval 9"/>
          <p:cNvSpPr/>
          <p:nvPr/>
        </p:nvSpPr>
        <p:spPr>
          <a:xfrm>
            <a:off x="5410200" y="1752600"/>
            <a:ext cx="114300" cy="11430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00700" y="1752600"/>
            <a:ext cx="114300" cy="114300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6500" y="1428750"/>
            <a:ext cx="5143500" cy="1676400"/>
          </a:xfrm>
          <a:prstGeom prst="roundRect">
            <a:avLst>
              <a:gd name="adj" fmla="val 4545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6438900" y="1504950"/>
            <a:ext cx="48387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14" name="Rounded Rectangle 13"/>
          <p:cNvSpPr/>
          <p:nvPr/>
        </p:nvSpPr>
        <p:spPr>
          <a:xfrm>
            <a:off x="6286500" y="1428750"/>
            <a:ext cx="76200" cy="1676400"/>
          </a:xfrm>
          <a:prstGeom prst="roundRect">
            <a:avLst>
              <a:gd name="adj" fmla="val 50000"/>
            </a:avLst>
          </a:pr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666875"/>
            <a:ext cx="205740" cy="2057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076450"/>
            <a:ext cx="137160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国产替代打开结构成长空间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514600"/>
            <a:ext cx="1440180" cy="1600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技术突破与供应链重构释放长期成长潜力</a:t>
            </a:r>
          </a:p>
        </p:txBody>
      </p:sp>
      <p:sp>
        <p:nvSpPr>
          <p:cNvPr id="18" name="Oval 17"/>
          <p:cNvSpPr/>
          <p:nvPr/>
        </p:nvSpPr>
        <p:spPr>
          <a:xfrm>
            <a:off x="10934700" y="1752600"/>
            <a:ext cx="114300" cy="11430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25200" y="1752600"/>
            <a:ext cx="114300" cy="114300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000" y="3486150"/>
            <a:ext cx="5143500" cy="1676400"/>
          </a:xfrm>
          <a:prstGeom prst="roundRect">
            <a:avLst>
              <a:gd name="adj" fmla="val 4545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" y="3562350"/>
            <a:ext cx="48387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22" name="Rounded Rectangle 21"/>
          <p:cNvSpPr/>
          <p:nvPr/>
        </p:nvSpPr>
        <p:spPr>
          <a:xfrm>
            <a:off x="762000" y="3486150"/>
            <a:ext cx="76200" cy="1676400"/>
          </a:xfrm>
          <a:prstGeom prst="roundRect">
            <a:avLst>
              <a:gd name="adj" fmla="val 50000"/>
            </a:avLst>
          </a:pr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4900" y="3724275"/>
            <a:ext cx="205740" cy="2057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900" y="4133850"/>
            <a:ext cx="137160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重点公司分层比较成长质量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900" y="4572000"/>
            <a:ext cx="1520190" cy="1600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聚焦竞争格局，识别不同公司的成长兑现度</a:t>
            </a:r>
          </a:p>
        </p:txBody>
      </p:sp>
      <p:sp>
        <p:nvSpPr>
          <p:cNvPr id="26" name="Oval 25"/>
          <p:cNvSpPr/>
          <p:nvPr/>
        </p:nvSpPr>
        <p:spPr>
          <a:xfrm>
            <a:off x="5410200" y="3810000"/>
            <a:ext cx="114300" cy="11430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00700" y="3810000"/>
            <a:ext cx="114300" cy="114300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3486150"/>
            <a:ext cx="5143500" cy="1676400"/>
          </a:xfrm>
          <a:prstGeom prst="roundRect">
            <a:avLst>
              <a:gd name="adj" fmla="val 4545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438900" y="3562350"/>
            <a:ext cx="48387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30" name="Rounded Rectangle 29"/>
          <p:cNvSpPr/>
          <p:nvPr/>
        </p:nvSpPr>
        <p:spPr>
          <a:xfrm>
            <a:off x="6286500" y="3486150"/>
            <a:ext cx="76200" cy="1676400"/>
          </a:xfrm>
          <a:prstGeom prst="roundRect">
            <a:avLst>
              <a:gd name="adj" fmla="val 50000"/>
            </a:avLst>
          </a:pr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724275"/>
            <a:ext cx="205740" cy="2057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133850"/>
            <a:ext cx="137160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风险收益框架决定配置纪律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572000"/>
            <a:ext cx="1440180" cy="1600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平衡预期收益与潜在风险，构建配置边界</a:t>
            </a:r>
          </a:p>
        </p:txBody>
      </p:sp>
      <p:sp>
        <p:nvSpPr>
          <p:cNvPr id="34" name="Oval 33"/>
          <p:cNvSpPr/>
          <p:nvPr/>
        </p:nvSpPr>
        <p:spPr>
          <a:xfrm>
            <a:off x="10934700" y="3810000"/>
            <a:ext cx="114300" cy="11430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125200" y="3810000"/>
            <a:ext cx="114300" cy="114300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000" y="5962650"/>
            <a:ext cx="1165860" cy="1371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HarmonyOS Sans SC"/>
                <a:ea typeface="HarmonyOS Sans SC"/>
                <a:cs typeface="HarmonyOS Sans SC"/>
              </a:rPr>
              <a:t>从行业趋势到公司选择，再到风险控制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1950" y="457200"/>
            <a:ext cx="76200" cy="209550"/>
          </a:xfrm>
          <a:prstGeom prst="roundRect">
            <a:avLst>
              <a:gd name="adj" fmla="val 50000"/>
            </a:avLst>
          </a:pr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2450" y="381000"/>
            <a:ext cx="297180" cy="2971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50" b="1">
                <a:solidFill>
                  <a:srgbClr val="0F172A"/>
                </a:solidFill>
                <a:latin typeface="system-ui"/>
                <a:ea typeface="system-ui"/>
                <a:cs typeface="system-ui"/>
              </a:rPr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BF1F8"/>
              </a:gs>
            </a:gsLst>
            <a:lin scaled="0" ang="17961465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D63ED">
                  <a:alpha val="10000"/>
                </a:srgbClr>
              </a:gs>
              <a:gs pos="100000">
                <a:srgbClr val="1D63ED">
                  <a:alpha val="0"/>
                </a:srgbClr>
              </a:gs>
            </a:gsLst>
            <a:path path="circle">
              <a:fillToRect l="88000" t="12000" r="12000" b="88000"/>
            </a:path>
            <a:tileRect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38500" y="238125"/>
            <a:ext cx="5715000" cy="57150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37500" b="1">
                <a:solidFill>
                  <a:srgbClr val="CBD5E1">
                    <a:alpha val="50000"/>
                  </a:srgbClr>
                </a:solidFill>
                <a:latin typeface="HarmonyOS Sans SC"/>
                <a:ea typeface="HarmonyOS Sans SC"/>
                <a:cs typeface="HarmonyOS Sans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55945" y="2266950"/>
            <a:ext cx="880110" cy="2514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1D63ED"/>
                </a:solidFill>
                <a:latin typeface="HarmonyOS Sans SC"/>
                <a:ea typeface="HarmonyOS Sans SC"/>
                <a:cs typeface="HarmonyOS Sans SC"/>
              </a:rPr>
              <a:t>PART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95675" y="2762250"/>
            <a:ext cx="5200650" cy="8001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525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景气复苏驱动设备需求再上行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5890" y="3838575"/>
            <a:ext cx="1760220" cy="2514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下游资本开支回暖带动订单释放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BF1F8"/>
              </a:gs>
            </a:gsLst>
            <a:lin scaled="0" ang="17961465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D63ED">
                  <a:alpha val="10000"/>
                </a:srgbClr>
              </a:gs>
              <a:gs pos="100000">
                <a:srgbClr val="1D63ED">
                  <a:alpha val="0"/>
                </a:srgbClr>
              </a:gs>
            </a:gsLst>
            <a:path path="circle">
              <a:fillToRect l="88000" t="12000" r="12000" b="88000"/>
            </a:path>
            <a:tileRect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1000" y="952500"/>
            <a:ext cx="4381500" cy="2857500"/>
          </a:xfrm>
          <a:prstGeom prst="roundRect">
            <a:avLst>
              <a:gd name="adj" fmla="val 2666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33400" y="962025"/>
            <a:ext cx="40767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647700" y="1123950"/>
            <a:ext cx="96012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设备需求创新高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1562100"/>
            <a:ext cx="1640205" cy="6400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420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1659</a:t>
            </a:r>
            <a:r>
              <a:rPr sz="1575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亿美元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2247900"/>
            <a:ext cx="155448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2026年全球半导体制造设备销售额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2743200"/>
            <a:ext cx="1748790" cy="4114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AI基础设施投资推动需求延续，</a:t>
            </a:r>
          </a:p>
          <a:p>
            <a:pPr algn="l"/>
            <a:r>
              <a:rPr sz="1350" b="0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行业预计连续五年增长至2028年。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3000" y="952500"/>
            <a:ext cx="6858000" cy="2857500"/>
          </a:xfrm>
          <a:prstGeom prst="roundRect">
            <a:avLst>
              <a:gd name="adj" fmla="val 2666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105400" y="962025"/>
            <a:ext cx="65532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5219700" y="1123950"/>
            <a:ext cx="96012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WFE持续扩张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9700" y="1485900"/>
            <a:ext cx="1280160" cy="3200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资本开支修复主线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9700" y="1990725"/>
            <a:ext cx="971550" cy="3886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75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先进逻辑与存储扩产</a:t>
            </a:r>
          </a:p>
          <a:p>
            <a:pPr algn="l"/>
            <a:r>
              <a:rPr sz="1275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推动设备需求持续抬升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9700" y="2686050"/>
            <a:ext cx="1200150" cy="1600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WFE销售额（单位：十亿美元）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58050" y="2814638"/>
            <a:ext cx="4076700" cy="0"/>
          </a:xfrm>
          <a:prstGeom prst="line">
            <a:avLst/>
          </a:prstGeom>
          <a:ln w="9525">
            <a:solidFill>
              <a:srgbClr val="FFFFFF">
                <a:alpha val="85000"/>
              </a:srgbClr>
            </a:solidFill>
            <a:prstDash val="dash"/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7258050" y="2524125"/>
            <a:ext cx="4076700" cy="0"/>
          </a:xfrm>
          <a:prstGeom prst="line">
            <a:avLst/>
          </a:prstGeom>
          <a:ln w="9525">
            <a:solidFill>
              <a:srgbClr val="FFFFFF">
                <a:alpha val="85000"/>
              </a:srgbClr>
            </a:solidFill>
            <a:prstDash val="dash"/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7258050" y="2233612"/>
            <a:ext cx="4076700" cy="0"/>
          </a:xfrm>
          <a:prstGeom prst="line">
            <a:avLst/>
          </a:prstGeom>
          <a:ln w="9525">
            <a:solidFill>
              <a:srgbClr val="FFFFFF">
                <a:alpha val="85000"/>
              </a:srgbClr>
            </a:solidFill>
            <a:prstDash val="dash"/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7258050" y="1943100"/>
            <a:ext cx="4076700" cy="0"/>
          </a:xfrm>
          <a:prstGeom prst="line">
            <a:avLst/>
          </a:prstGeom>
          <a:ln w="9525">
            <a:solidFill>
              <a:srgbClr val="FFFFFF">
                <a:alpha val="85000"/>
              </a:srgbClr>
            </a:solidFill>
            <a:prstDash val="dash"/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7258050" y="3105150"/>
            <a:ext cx="4076700" cy="0"/>
          </a:xfrm>
          <a:prstGeom prst="line">
            <a:avLst/>
          </a:prstGeom>
          <a:ln w="9525">
            <a:solidFill>
              <a:srgbClr val="FFFFFF">
                <a:alpha val="85000"/>
              </a:srgbClr>
            </a:solidFill>
            <a:prstDash val="dash"/>
          </a:ln>
          <a:effectLst/>
        </p:spPr>
      </p:cxnSp>
      <p:sp>
        <p:nvSpPr>
          <p:cNvPr id="21" name="Rounded Rectangle 20"/>
          <p:cNvSpPr/>
          <p:nvPr/>
        </p:nvSpPr>
        <p:spPr>
          <a:xfrm>
            <a:off x="7539038" y="2509345"/>
            <a:ext cx="457200" cy="595805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3498EF"/>
              </a:gs>
              <a:gs pos="100000">
                <a:srgbClr val="5C62F2">
                  <a:alpha val="92000"/>
                </a:srgbClr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84745" y="2347420"/>
            <a:ext cx="565785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0F172A">
                    <a:alpha val="80000"/>
                  </a:srgbClr>
                </a:solidFill>
                <a:latin typeface="Calibri"/>
                <a:ea typeface="Calibri"/>
                <a:cs typeface="Calibri"/>
              </a:rPr>
              <a:t>116.9十亿美元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0478" y="3181350"/>
            <a:ext cx="274320" cy="1371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>
                    <a:alpha val="85000"/>
                  </a:srgbClr>
                </a:solidFill>
                <a:latin typeface="Calibri"/>
                <a:ea typeface="Calibri"/>
                <a:cs typeface="Calibri"/>
              </a:rPr>
              <a:t>2025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58212" y="2371733"/>
            <a:ext cx="457200" cy="733417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26D6EB"/>
              </a:gs>
              <a:gs pos="100000">
                <a:srgbClr val="518FEF">
                  <a:alpha val="92000"/>
                </a:srgbClr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2209808"/>
            <a:ext cx="565785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0F172A">
                    <a:alpha val="80000"/>
                  </a:srgbClr>
                </a:solidFill>
                <a:latin typeface="Calibri"/>
                <a:ea typeface="Calibri"/>
                <a:cs typeface="Calibri"/>
              </a:rPr>
              <a:t>143.9十亿美元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5362" y="3181350"/>
            <a:ext cx="342900" cy="1371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>
                    <a:alpha val="85000"/>
                  </a:srgbClr>
                </a:solidFill>
                <a:latin typeface="Calibri"/>
                <a:ea typeface="Calibri"/>
                <a:cs typeface="Calibri"/>
              </a:rPr>
              <a:t>2026E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77388" y="2211697"/>
            <a:ext cx="457200" cy="893453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738FF2"/>
              </a:gs>
              <a:gs pos="100000">
                <a:srgbClr val="AB8FF5">
                  <a:alpha val="92000"/>
                </a:srgbClr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23095" y="2049772"/>
            <a:ext cx="565785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0F172A">
                    <a:alpha val="80000"/>
                  </a:srgbClr>
                </a:solidFill>
                <a:latin typeface="Calibri"/>
                <a:ea typeface="Calibri"/>
                <a:cs typeface="Calibri"/>
              </a:rPr>
              <a:t>175.3十亿美元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4538" y="3181350"/>
            <a:ext cx="342900" cy="1371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>
                    <a:alpha val="85000"/>
                  </a:srgbClr>
                </a:solidFill>
                <a:latin typeface="Calibri"/>
                <a:ea typeface="Calibri"/>
                <a:cs typeface="Calibri"/>
              </a:rPr>
              <a:t>2027E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96562" y="2085808"/>
            <a:ext cx="457200" cy="1019342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4CE6F9"/>
              </a:gs>
              <a:gs pos="100000">
                <a:srgbClr val="70A6FA">
                  <a:alpha val="92000"/>
                </a:srgbClr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05135" y="1923883"/>
            <a:ext cx="440055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0F172A">
                    <a:alpha val="80000"/>
                  </a:srgbClr>
                </a:solidFill>
                <a:latin typeface="Calibri"/>
                <a:ea typeface="Calibri"/>
                <a:cs typeface="Calibri"/>
              </a:rPr>
              <a:t>200十亿美元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3712" y="3181350"/>
            <a:ext cx="342900" cy="1371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>
                    <a:alpha val="85000"/>
                  </a:srgbClr>
                </a:solidFill>
                <a:latin typeface="Calibri"/>
                <a:ea typeface="Calibri"/>
                <a:cs typeface="Calibri"/>
              </a:rPr>
              <a:t>2028E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1000" y="4000500"/>
            <a:ext cx="11430000" cy="2381250"/>
          </a:xfrm>
          <a:prstGeom prst="roundRect">
            <a:avLst>
              <a:gd name="adj" fmla="val 3200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533400" y="4010025"/>
            <a:ext cx="111252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609600" y="4429125"/>
            <a:ext cx="1645920" cy="4114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AI驱动投资上行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4933950"/>
            <a:ext cx="80010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需求向设备传导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5353050"/>
            <a:ext cx="914400" cy="3657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算力扩容带动产能扩张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周期修复转向持续上行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76800" y="4476750"/>
            <a:ext cx="2857500" cy="1066800"/>
          </a:xfrm>
          <a:prstGeom prst="roundRect">
            <a:avLst>
              <a:gd name="adj" fmla="val 10714"/>
            </a:avLst>
          </a:prstGeom>
          <a:solidFill>
            <a:srgbClr val="EDF3FA"/>
          </a:solidFill>
          <a:ln w="9525">
            <a:solidFill>
              <a:srgbClr val="CBD5E1">
                <a:alpha val="4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05400" y="4610100"/>
            <a:ext cx="754380" cy="2514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65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AI算力需求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5400" y="5029200"/>
            <a:ext cx="548640" cy="3657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需求扩容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投资持续上行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8280" y="4888916"/>
            <a:ext cx="161640" cy="242468"/>
          </a:xfrm>
          <a:custGeom>
            <a:avLst/>
            <a:gdLst/>
            <a:ahLst/>
            <a:cxnLst/>
            <a:rect l="0" t="0" r="161640" b="242468"/>
            <a:pathLst>
              <a:path w="161640" h="242468">
                <a:moveTo>
                  <a:pt x="80820" y="121234"/>
                </a:moveTo>
                <a:lnTo>
                  <a:pt x="0" y="40414"/>
                </a:lnTo>
                <a:lnTo>
                  <a:pt x="40405" y="0"/>
                </a:lnTo>
                <a:lnTo>
                  <a:pt x="161640" y="121234"/>
                </a:lnTo>
                <a:lnTo>
                  <a:pt x="40405" y="242468"/>
                </a:lnTo>
                <a:lnTo>
                  <a:pt x="0" y="202054"/>
                </a:lnTo>
                <a:lnTo>
                  <a:pt x="80820" y="121234"/>
                </a:lnTo>
                <a:close/>
              </a:path>
            </a:pathLst>
          </a:cu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343900" y="4476750"/>
            <a:ext cx="2857500" cy="1066800"/>
          </a:xfrm>
          <a:prstGeom prst="roundRect">
            <a:avLst>
              <a:gd name="adj" fmla="val 10714"/>
            </a:avLst>
          </a:prstGeom>
          <a:solidFill>
            <a:srgbClr val="EDF3FA"/>
          </a:solidFill>
          <a:ln w="9525">
            <a:solidFill>
              <a:srgbClr val="CBD5E1">
                <a:alpha val="4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72500" y="4610100"/>
            <a:ext cx="754380" cy="2514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65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设备采购上行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0" y="5029200"/>
            <a:ext cx="822960" cy="3657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产能扩张与技术迁移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采购需求持续抬升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1950" y="457200"/>
            <a:ext cx="76200" cy="209550"/>
          </a:xfrm>
          <a:prstGeom prst="roundRect">
            <a:avLst>
              <a:gd name="adj" fmla="val 50000"/>
            </a:avLst>
          </a:pr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2450" y="381000"/>
            <a:ext cx="2674620" cy="2971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50" b="1">
                <a:solidFill>
                  <a:srgbClr val="0F172A"/>
                </a:solidFill>
                <a:latin typeface="system-ui"/>
                <a:ea typeface="system-ui"/>
                <a:cs typeface="system-ui"/>
              </a:rPr>
              <a:t>全球半导体进入</a:t>
            </a:r>
            <a:r>
              <a:rPr sz="195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system-ui"/>
                <a:ea typeface="system-ui"/>
                <a:cs typeface="system-ui"/>
              </a:rPr>
              <a:t>高增长</a:t>
            </a:r>
            <a:r>
              <a:rPr sz="1950" b="1">
                <a:solidFill>
                  <a:srgbClr val="0F172A"/>
                </a:solidFill>
                <a:latin typeface="system-ui"/>
                <a:ea typeface="system-ui"/>
                <a:cs typeface="system-ui"/>
              </a:rPr>
              <a:t>与资本开支修复期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BF1F8"/>
              </a:gs>
            </a:gsLst>
            <a:lin scaled="0" ang="17961465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D63ED">
                  <a:alpha val="10000"/>
                </a:srgbClr>
              </a:gs>
              <a:gs pos="100000">
                <a:srgbClr val="1D63ED">
                  <a:alpha val="0"/>
                </a:srgbClr>
              </a:gs>
            </a:gsLst>
            <a:path path="circle">
              <a:fillToRect l="88000" t="12000" r="12000" b="88000"/>
            </a:path>
            <a:tileRect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1000" y="952500"/>
            <a:ext cx="11430000" cy="2095500"/>
          </a:xfrm>
          <a:prstGeom prst="roundRect">
            <a:avLst>
              <a:gd name="adj" fmla="val 3636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33400" y="962025"/>
            <a:ext cx="111252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647700" y="1238250"/>
            <a:ext cx="971550" cy="3886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55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需求从扩产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1619250"/>
            <a:ext cx="777240" cy="3886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55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转向升级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2114550"/>
            <a:ext cx="114300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高复杂度环节集中受益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62500" y="1257300"/>
            <a:ext cx="6781800" cy="1485900"/>
          </a:xfrm>
          <a:prstGeom prst="roundRect">
            <a:avLst>
              <a:gd name="adj" fmla="val 7692"/>
            </a:avLst>
          </a:prstGeom>
          <a:solidFill>
            <a:srgbClr val="EDF3FA"/>
          </a:solidFill>
          <a:ln w="9525">
            <a:solidFill>
              <a:srgbClr val="CBD5E1">
                <a:alpha val="4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390650"/>
            <a:ext cx="192024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AI算力推动设备需求结构变化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838325"/>
            <a:ext cx="2674620" cy="4114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HBM与DRAM扩产叠加2.5D/3D封装，设备需求</a:t>
            </a:r>
          </a:p>
          <a:p>
            <a:pPr algn="l"/>
            <a:r>
              <a:rPr sz="135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从规模扩产转向高复杂度工艺升级。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3238500"/>
            <a:ext cx="5429250" cy="3143250"/>
          </a:xfrm>
          <a:prstGeom prst="roundRect">
            <a:avLst>
              <a:gd name="adj" fmla="val 2424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33400" y="3248025"/>
            <a:ext cx="512445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647700" y="3409950"/>
            <a:ext cx="150876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存储投资向DRAM倾斜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3790950"/>
            <a:ext cx="114300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投资重心偏向先进存储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4162425"/>
            <a:ext cx="2040255" cy="3886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75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DRAM成为投资主引擎，NAND同步扩张；</a:t>
            </a:r>
          </a:p>
          <a:p>
            <a:pPr algn="l"/>
            <a:r>
              <a:rPr sz="1275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先进节点迁移使有效产能增幅低于设备投入。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2432" y="4461596"/>
            <a:ext cx="1377225" cy="1401773"/>
          </a:xfrm>
          <a:custGeom>
            <a:avLst/>
            <a:gdLst/>
            <a:ahLst/>
            <a:cxnLst/>
            <a:rect l="0" t="0" r="1377225" b="1401773"/>
            <a:pathLst>
              <a:path w="1377225" h="1401773">
                <a:moveTo>
                  <a:pt x="687204" y="0"/>
                </a:moveTo>
                <a:lnTo>
                  <a:pt x="764603" y="5511"/>
                </a:lnTo>
                <a:lnTo>
                  <a:pt x="840918" y="19542"/>
                </a:lnTo>
                <a:lnTo>
                  <a:pt x="915215" y="41920"/>
                </a:lnTo>
                <a:lnTo>
                  <a:pt x="986584" y="72373"/>
                </a:lnTo>
                <a:lnTo>
                  <a:pt x="1054151" y="110526"/>
                </a:lnTo>
                <a:lnTo>
                  <a:pt x="1117086" y="155913"/>
                </a:lnTo>
                <a:lnTo>
                  <a:pt x="1174621" y="207977"/>
                </a:lnTo>
                <a:lnTo>
                  <a:pt x="1226049" y="266080"/>
                </a:lnTo>
                <a:lnTo>
                  <a:pt x="1270741" y="329511"/>
                </a:lnTo>
                <a:lnTo>
                  <a:pt x="1308149" y="397493"/>
                </a:lnTo>
                <a:lnTo>
                  <a:pt x="1337815" y="469192"/>
                </a:lnTo>
                <a:lnTo>
                  <a:pt x="1359375" y="543731"/>
                </a:lnTo>
                <a:lnTo>
                  <a:pt x="1372566" y="620196"/>
                </a:lnTo>
                <a:lnTo>
                  <a:pt x="1377225" y="697650"/>
                </a:lnTo>
                <a:lnTo>
                  <a:pt x="1373296" y="775145"/>
                </a:lnTo>
                <a:lnTo>
                  <a:pt x="1360827" y="851731"/>
                </a:lnTo>
                <a:lnTo>
                  <a:pt x="1339970" y="926470"/>
                </a:lnTo>
                <a:lnTo>
                  <a:pt x="1310981" y="998446"/>
                </a:lnTo>
                <a:lnTo>
                  <a:pt x="1274215" y="1066777"/>
                </a:lnTo>
                <a:lnTo>
                  <a:pt x="1230123" y="1130626"/>
                </a:lnTo>
                <a:lnTo>
                  <a:pt x="1179245" y="1189212"/>
                </a:lnTo>
                <a:lnTo>
                  <a:pt x="1122204" y="1241816"/>
                </a:lnTo>
                <a:lnTo>
                  <a:pt x="1059698" y="1287794"/>
                </a:lnTo>
                <a:lnTo>
                  <a:pt x="992495" y="1326582"/>
                </a:lnTo>
                <a:lnTo>
                  <a:pt x="921416" y="1357706"/>
                </a:lnTo>
                <a:lnTo>
                  <a:pt x="847333" y="1380784"/>
                </a:lnTo>
                <a:lnTo>
                  <a:pt x="771153" y="1395533"/>
                </a:lnTo>
                <a:lnTo>
                  <a:pt x="693810" y="1401773"/>
                </a:lnTo>
                <a:lnTo>
                  <a:pt x="616251" y="1399427"/>
                </a:lnTo>
                <a:lnTo>
                  <a:pt x="539427" y="1388524"/>
                </a:lnTo>
                <a:lnTo>
                  <a:pt x="464278" y="1369197"/>
                </a:lnTo>
                <a:lnTo>
                  <a:pt x="391725" y="1341684"/>
                </a:lnTo>
                <a:lnTo>
                  <a:pt x="322657" y="1306321"/>
                </a:lnTo>
                <a:lnTo>
                  <a:pt x="257921" y="1263542"/>
                </a:lnTo>
                <a:lnTo>
                  <a:pt x="198309" y="1213871"/>
                </a:lnTo>
                <a:lnTo>
                  <a:pt x="144551" y="1157916"/>
                </a:lnTo>
                <a:lnTo>
                  <a:pt x="97306" y="1096362"/>
                </a:lnTo>
                <a:lnTo>
                  <a:pt x="57154" y="1029964"/>
                </a:lnTo>
                <a:lnTo>
                  <a:pt x="24585" y="959536"/>
                </a:lnTo>
                <a:lnTo>
                  <a:pt x="0" y="885940"/>
                </a:lnTo>
                <a:lnTo>
                  <a:pt x="278470" y="809759"/>
                </a:lnTo>
                <a:lnTo>
                  <a:pt x="306649" y="883873"/>
                </a:lnTo>
                <a:lnTo>
                  <a:pt x="348493" y="951224"/>
                </a:lnTo>
                <a:lnTo>
                  <a:pt x="402455" y="1009320"/>
                </a:lnTo>
                <a:lnTo>
                  <a:pt x="466539" y="1056013"/>
                </a:lnTo>
                <a:lnTo>
                  <a:pt x="538375" y="1089577"/>
                </a:lnTo>
                <a:lnTo>
                  <a:pt x="615308" y="1108771"/>
                </a:lnTo>
                <a:lnTo>
                  <a:pt x="694491" y="1112885"/>
                </a:lnTo>
                <a:lnTo>
                  <a:pt x="772999" y="1101766"/>
                </a:lnTo>
                <a:lnTo>
                  <a:pt x="847926" y="1075827"/>
                </a:lnTo>
                <a:lnTo>
                  <a:pt x="916504" y="1036025"/>
                </a:lnTo>
                <a:lnTo>
                  <a:pt x="976195" y="983834"/>
                </a:lnTo>
                <a:lnTo>
                  <a:pt x="1024793" y="921182"/>
                </a:lnTo>
                <a:lnTo>
                  <a:pt x="1060500" y="850386"/>
                </a:lnTo>
                <a:lnTo>
                  <a:pt x="1081997" y="774065"/>
                </a:lnTo>
                <a:lnTo>
                  <a:pt x="1088488" y="695040"/>
                </a:lnTo>
                <a:lnTo>
                  <a:pt x="1079733" y="616235"/>
                </a:lnTo>
                <a:lnTo>
                  <a:pt x="1056056" y="540561"/>
                </a:lnTo>
                <a:lnTo>
                  <a:pt x="1018333" y="470819"/>
                </a:lnTo>
                <a:lnTo>
                  <a:pt x="967959" y="409587"/>
                </a:lnTo>
                <a:lnTo>
                  <a:pt x="906795" y="359128"/>
                </a:lnTo>
                <a:lnTo>
                  <a:pt x="837104" y="321310"/>
                </a:lnTo>
                <a:lnTo>
                  <a:pt x="761464" y="297530"/>
                </a:lnTo>
                <a:lnTo>
                  <a:pt x="682670" y="288668"/>
                </a:lnTo>
                <a:lnTo>
                  <a:pt x="687204" y="0"/>
                </a:lnTo>
                <a:close/>
              </a:path>
            </a:pathLst>
          </a:custGeom>
          <a:gradFill rotWithShape="1">
            <a:gsLst>
              <a:gs pos="58818">
                <a:srgbClr val="3D9DF0"/>
              </a:gs>
              <a:gs pos="100000">
                <a:srgbClr val="535FF1"/>
              </a:gs>
            </a:gsLst>
            <a:path path="circle">
              <a:fillToRect l="9766" t="12500" r="90234" b="87500"/>
            </a:path>
            <a:tileRect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04394" y="4534514"/>
            <a:ext cx="576132" cy="776126"/>
          </a:xfrm>
          <a:custGeom>
            <a:avLst/>
            <a:gdLst/>
            <a:ahLst/>
            <a:cxnLst/>
            <a:rect l="0" t="0" r="576132" b="776126"/>
            <a:pathLst>
              <a:path w="576132" h="776126">
                <a:moveTo>
                  <a:pt x="17394" y="776126"/>
                </a:moveTo>
                <a:lnTo>
                  <a:pt x="3531" y="696124"/>
                </a:lnTo>
                <a:lnTo>
                  <a:pt x="0" y="615006"/>
                </a:lnTo>
                <a:lnTo>
                  <a:pt x="6859" y="534102"/>
                </a:lnTo>
                <a:lnTo>
                  <a:pt x="23996" y="454737"/>
                </a:lnTo>
                <a:lnTo>
                  <a:pt x="51130" y="378211"/>
                </a:lnTo>
                <a:lnTo>
                  <a:pt x="87817" y="305778"/>
                </a:lnTo>
                <a:lnTo>
                  <a:pt x="133454" y="238624"/>
                </a:lnTo>
                <a:lnTo>
                  <a:pt x="187296" y="177849"/>
                </a:lnTo>
                <a:lnTo>
                  <a:pt x="248460" y="124449"/>
                </a:lnTo>
                <a:lnTo>
                  <a:pt x="315943" y="79300"/>
                </a:lnTo>
                <a:lnTo>
                  <a:pt x="388640" y="43139"/>
                </a:lnTo>
                <a:lnTo>
                  <a:pt x="465361" y="16561"/>
                </a:lnTo>
                <a:lnTo>
                  <a:pt x="544848" y="0"/>
                </a:lnTo>
                <a:lnTo>
                  <a:pt x="576132" y="219812"/>
                </a:lnTo>
                <a:lnTo>
                  <a:pt x="502030" y="237466"/>
                </a:lnTo>
                <a:lnTo>
                  <a:pt x="432440" y="268449"/>
                </a:lnTo>
                <a:lnTo>
                  <a:pt x="369737" y="311705"/>
                </a:lnTo>
                <a:lnTo>
                  <a:pt x="316061" y="365757"/>
                </a:lnTo>
                <a:lnTo>
                  <a:pt x="273244" y="428761"/>
                </a:lnTo>
                <a:lnTo>
                  <a:pt x="242748" y="498565"/>
                </a:lnTo>
                <a:lnTo>
                  <a:pt x="225612" y="572789"/>
                </a:lnTo>
                <a:lnTo>
                  <a:pt x="222422" y="648897"/>
                </a:lnTo>
                <a:lnTo>
                  <a:pt x="233287" y="724294"/>
                </a:lnTo>
                <a:lnTo>
                  <a:pt x="17394" y="776126"/>
                </a:lnTo>
                <a:close/>
              </a:path>
            </a:pathLst>
          </a:custGeom>
          <a:gradFill rotWithShape="1">
            <a:gsLst>
              <a:gs pos="58818">
                <a:srgbClr val="30D7EC">
                  <a:alpha val="90000"/>
                </a:srgbClr>
              </a:gs>
              <a:gs pos="100000">
                <a:srgbClr val="488FEE">
                  <a:alpha val="90000"/>
                </a:srgbClr>
              </a:gs>
            </a:gsLst>
            <a:path path="circle">
              <a:fillToRect l="9766" t="12500" r="90234" b="87500"/>
            </a:path>
            <a:tileRect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9013" y="4528263"/>
            <a:ext cx="63135" cy="224440"/>
          </a:xfrm>
          <a:custGeom>
            <a:avLst/>
            <a:gdLst/>
            <a:ahLst/>
            <a:cxnLst/>
            <a:rect l="0" t="0" r="63135" b="224440"/>
            <a:pathLst>
              <a:path w="63135" h="224440">
                <a:moveTo>
                  <a:pt x="0" y="3753"/>
                </a:moveTo>
                <a:lnTo>
                  <a:pt x="7433" y="2977"/>
                </a:lnTo>
                <a:lnTo>
                  <a:pt x="14875" y="2288"/>
                </a:lnTo>
                <a:lnTo>
                  <a:pt x="22324" y="1687"/>
                </a:lnTo>
                <a:lnTo>
                  <a:pt x="29780" y="1174"/>
                </a:lnTo>
                <a:lnTo>
                  <a:pt x="37241" y="748"/>
                </a:lnTo>
                <a:lnTo>
                  <a:pt x="44707" y="411"/>
                </a:lnTo>
                <a:lnTo>
                  <a:pt x="52176" y="162"/>
                </a:lnTo>
                <a:lnTo>
                  <a:pt x="59648" y="0"/>
                </a:lnTo>
                <a:lnTo>
                  <a:pt x="63135" y="222001"/>
                </a:lnTo>
                <a:lnTo>
                  <a:pt x="58279" y="222106"/>
                </a:lnTo>
                <a:lnTo>
                  <a:pt x="53424" y="222268"/>
                </a:lnTo>
                <a:lnTo>
                  <a:pt x="48571" y="222487"/>
                </a:lnTo>
                <a:lnTo>
                  <a:pt x="43721" y="222763"/>
                </a:lnTo>
                <a:lnTo>
                  <a:pt x="38875" y="223097"/>
                </a:lnTo>
                <a:lnTo>
                  <a:pt x="34033" y="223488"/>
                </a:lnTo>
                <a:lnTo>
                  <a:pt x="29196" y="223935"/>
                </a:lnTo>
                <a:lnTo>
                  <a:pt x="24364" y="224440"/>
                </a:lnTo>
                <a:lnTo>
                  <a:pt x="0" y="3753"/>
                </a:lnTo>
                <a:close/>
              </a:path>
            </a:pathLst>
          </a:custGeom>
          <a:gradFill rotWithShape="1">
            <a:gsLst>
              <a:gs pos="58818">
                <a:srgbClr val="7994F3">
                  <a:alpha val="90000"/>
                </a:srgbClr>
              </a:gs>
              <a:gs pos="100000">
                <a:srgbClr val="A388F4">
                  <a:alpha val="90000"/>
                </a:srgbClr>
              </a:gs>
            </a:gsLst>
            <a:path path="circle">
              <a:fillToRect l="9766" t="12500" r="90234" b="87500"/>
            </a:path>
            <a:tileRect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98835" y="4877067"/>
            <a:ext cx="479580" cy="3197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097" b="1">
                <a:gradFill>
                  <a:gsLst>
                    <a:gs pos="0">
                      <a:srgbClr val="1D63ED"/>
                    </a:gs>
                    <a:gs pos="100000">
                      <a:srgbClr val="1A75BA"/>
                    </a:gs>
                  </a:gsLst>
                  <a:lin ang="4557825" scaled="1"/>
                </a:gradFill>
                <a:latin typeface="Calibri"/>
                <a:ea typeface="Calibri"/>
                <a:cs typeface="Calibri"/>
              </a:rPr>
              <a:t>71%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0040" y="5247908"/>
            <a:ext cx="217170" cy="108585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712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DRAM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8850" y="3238500"/>
            <a:ext cx="5772150" cy="3143250"/>
          </a:xfrm>
          <a:prstGeom prst="roundRect">
            <a:avLst>
              <a:gd name="adj" fmla="val 2424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191250" y="3248025"/>
            <a:ext cx="546735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6305550" y="3409950"/>
            <a:ext cx="1371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封装工艺抬升设备价值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5550" y="3733800"/>
            <a:ext cx="102870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HBM贡献&gt;80%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6050" y="4000500"/>
            <a:ext cx="2000250" cy="1238250"/>
          </a:xfrm>
          <a:prstGeom prst="roundRect">
            <a:avLst>
              <a:gd name="adj" fmla="val 9230"/>
            </a:avLst>
          </a:prstGeom>
          <a:solidFill>
            <a:srgbClr val="EDF3FA"/>
          </a:solidFill>
          <a:ln w="9525">
            <a:solidFill>
              <a:srgbClr val="CBD5E1">
                <a:alpha val="4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96138" y="4314825"/>
            <a:ext cx="600075" cy="2400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堆叠复杂度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6160" y="4619625"/>
            <a:ext cx="240030" cy="2400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提升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4000500"/>
            <a:ext cx="2000250" cy="1238250"/>
          </a:xfrm>
          <a:prstGeom prst="roundRect">
            <a:avLst>
              <a:gd name="adj" fmla="val 9230"/>
            </a:avLst>
          </a:prstGeom>
          <a:solidFill>
            <a:srgbClr val="EDF3FA"/>
          </a:solidFill>
          <a:ln w="9525">
            <a:solidFill>
              <a:srgbClr val="CBD5E1">
                <a:alpha val="4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44088" y="4314825"/>
            <a:ext cx="600075" cy="2400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设备价值量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4110" y="4619625"/>
            <a:ext cx="240030" cy="2400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提升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39330" y="4498391"/>
            <a:ext cx="161640" cy="242468"/>
          </a:xfrm>
          <a:custGeom>
            <a:avLst/>
            <a:gdLst/>
            <a:ahLst/>
            <a:cxnLst/>
            <a:rect l="0" t="0" r="161640" b="242468"/>
            <a:pathLst>
              <a:path w="161640" h="242468">
                <a:moveTo>
                  <a:pt x="80820" y="121234"/>
                </a:moveTo>
                <a:lnTo>
                  <a:pt x="0" y="40414"/>
                </a:lnTo>
                <a:lnTo>
                  <a:pt x="40405" y="0"/>
                </a:lnTo>
                <a:lnTo>
                  <a:pt x="161640" y="121234"/>
                </a:lnTo>
                <a:lnTo>
                  <a:pt x="40405" y="242468"/>
                </a:lnTo>
                <a:lnTo>
                  <a:pt x="0" y="202054"/>
                </a:lnTo>
                <a:lnTo>
                  <a:pt x="80820" y="121234"/>
                </a:lnTo>
                <a:close/>
              </a:path>
            </a:pathLst>
          </a:cu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6050" y="5457825"/>
            <a:ext cx="2137410" cy="3886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75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需求沿TSV、减薄、键合、检测与测试扩散，</a:t>
            </a:r>
          </a:p>
          <a:p>
            <a:pPr algn="l"/>
            <a:r>
              <a:rPr sz="1275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2.5D/3D集成进一步推高对准与良率要求。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1950" y="457200"/>
            <a:ext cx="76200" cy="209550"/>
          </a:xfrm>
          <a:prstGeom prst="roundRect">
            <a:avLst>
              <a:gd name="adj" fmla="val 50000"/>
            </a:avLst>
          </a:pr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2450" y="381000"/>
            <a:ext cx="2526030" cy="2971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50" b="1">
                <a:solidFill>
                  <a:srgbClr val="0F172A"/>
                </a:solidFill>
                <a:latin typeface="system-ui"/>
                <a:ea typeface="system-ui"/>
                <a:cs typeface="system-ui"/>
              </a:rPr>
              <a:t>AI存储与</a:t>
            </a:r>
            <a:r>
              <a:rPr sz="195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system-ui"/>
                <a:ea typeface="system-ui"/>
                <a:cs typeface="system-ui"/>
              </a:rPr>
              <a:t>先进封装</a:t>
            </a:r>
            <a:r>
              <a:rPr sz="1950" b="1">
                <a:solidFill>
                  <a:srgbClr val="0F172A"/>
                </a:solidFill>
                <a:latin typeface="system-ui"/>
                <a:ea typeface="system-ui"/>
                <a:cs typeface="system-ui"/>
              </a:rPr>
              <a:t>重塑设备需求结构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BF1F8"/>
              </a:gs>
            </a:gsLst>
            <a:lin scaled="0" ang="17961465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D63ED">
                  <a:alpha val="10000"/>
                </a:srgbClr>
              </a:gs>
              <a:gs pos="100000">
                <a:srgbClr val="1D63ED">
                  <a:alpha val="0"/>
                </a:srgbClr>
              </a:gs>
            </a:gsLst>
            <a:path path="circle">
              <a:fillToRect l="88000" t="12000" r="12000" b="88000"/>
            </a:path>
            <a:tileRect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38500" y="238125"/>
            <a:ext cx="5715000" cy="57150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37500" b="1">
                <a:solidFill>
                  <a:srgbClr val="CBD5E1">
                    <a:alpha val="50000"/>
                  </a:srgbClr>
                </a:solidFill>
                <a:latin typeface="HarmonyOS Sans SC"/>
                <a:ea typeface="HarmonyOS Sans SC"/>
                <a:cs typeface="HarmonyOS Sans S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55945" y="2266950"/>
            <a:ext cx="880110" cy="2514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1D63ED"/>
                </a:solidFill>
                <a:latin typeface="HarmonyOS Sans SC"/>
                <a:ea typeface="HarmonyOS Sans SC"/>
                <a:cs typeface="HarmonyOS Sans SC"/>
              </a:rPr>
              <a:t>PART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95700" y="2762250"/>
            <a:ext cx="4800600" cy="8001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525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国产替代打开结构成长空间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53025" y="3838575"/>
            <a:ext cx="1885950" cy="2514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核心环节突破重塑竞争与盈利格局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BF1F8"/>
              </a:gs>
            </a:gsLst>
            <a:lin scaled="0" ang="17961465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D63ED">
                  <a:alpha val="10000"/>
                </a:srgbClr>
              </a:gs>
              <a:gs pos="100000">
                <a:srgbClr val="1D63ED">
                  <a:alpha val="0"/>
                </a:srgbClr>
              </a:gs>
            </a:gsLst>
            <a:path path="circle">
              <a:fillToRect l="88000" t="12000" r="12000" b="88000"/>
            </a:path>
            <a:tileRect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1000" y="952500"/>
            <a:ext cx="7239000" cy="5429250"/>
          </a:xfrm>
          <a:prstGeom prst="roundRect">
            <a:avLst>
              <a:gd name="adj" fmla="val 1403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33400" y="962025"/>
            <a:ext cx="69342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647700" y="1133475"/>
            <a:ext cx="82296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国产化率梯度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1466850"/>
            <a:ext cx="2137410" cy="3886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55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洼地越深</a:t>
            </a:r>
            <a:r>
              <a:rPr sz="255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，替代斜率越大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1933575"/>
            <a:ext cx="1845945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75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成熟品类先兑现，高壁垒洼地仍处导入早期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2209800"/>
            <a:ext cx="173736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各细分设备国产化率横向比较（单位：%）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710679"/>
            <a:ext cx="285750" cy="142875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937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清洗设备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9915" y="2705916"/>
            <a:ext cx="222885" cy="14859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1D63ED"/>
                </a:solidFill>
                <a:latin typeface="Calibri"/>
                <a:ea typeface="Calibri"/>
                <a:cs typeface="Calibri"/>
              </a:rPr>
              <a:t>50%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200" y="2935387"/>
            <a:ext cx="6324600" cy="95250"/>
          </a:xfrm>
          <a:prstGeom prst="roundRect">
            <a:avLst>
              <a:gd name="adj" fmla="val 50000"/>
            </a:avLst>
          </a:prstGeom>
          <a:solidFill>
            <a:srgbClr val="141E2D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8200" y="2935387"/>
            <a:ext cx="6324600" cy="95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C62F2">
                  <a:alpha val="92000"/>
                </a:srgbClr>
              </a:gs>
              <a:gs pos="100000">
                <a:srgbClr val="3498E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189650"/>
            <a:ext cx="357188" cy="142875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CMP抛光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9915" y="3184888"/>
            <a:ext cx="222885" cy="14859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0F172A">
                    <a:alpha val="85000"/>
                  </a:srgbClr>
                </a:solidFill>
                <a:latin typeface="Calibri"/>
                <a:ea typeface="Calibri"/>
                <a:cs typeface="Calibri"/>
              </a:rPr>
              <a:t>39%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8200" y="3414359"/>
            <a:ext cx="6324600" cy="95250"/>
          </a:xfrm>
          <a:prstGeom prst="roundRect">
            <a:avLst>
              <a:gd name="adj" fmla="val 50000"/>
            </a:avLst>
          </a:prstGeom>
          <a:solidFill>
            <a:srgbClr val="141E2D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8200" y="3414359"/>
            <a:ext cx="4933188" cy="95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18FEF">
                  <a:alpha val="92000"/>
                </a:srgbClr>
              </a:gs>
              <a:gs pos="100000">
                <a:srgbClr val="26D6EB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" y="3668622"/>
            <a:ext cx="285750" cy="142875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刻蚀设备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9915" y="3663859"/>
            <a:ext cx="222885" cy="14859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0F172A">
                    <a:alpha val="85000"/>
                  </a:srgbClr>
                </a:solidFill>
                <a:latin typeface="Calibri"/>
                <a:ea typeface="Calibri"/>
                <a:cs typeface="Calibri"/>
              </a:rPr>
              <a:t>31%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3893330"/>
            <a:ext cx="6324600" cy="95250"/>
          </a:xfrm>
          <a:prstGeom prst="roundRect">
            <a:avLst>
              <a:gd name="adj" fmla="val 50000"/>
            </a:avLst>
          </a:prstGeom>
          <a:solidFill>
            <a:srgbClr val="141E2D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8200" y="3893330"/>
            <a:ext cx="3921252" cy="95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B8FF5">
                  <a:alpha val="92000"/>
                </a:srgbClr>
              </a:gs>
              <a:gs pos="100000">
                <a:srgbClr val="738FF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200" y="4147593"/>
            <a:ext cx="285750" cy="142875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薄膜沉积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9915" y="4142831"/>
            <a:ext cx="222885" cy="14859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0F172A">
                    <a:alpha val="85000"/>
                  </a:srgbClr>
                </a:solidFill>
                <a:latin typeface="Calibri"/>
                <a:ea typeface="Calibri"/>
                <a:cs typeface="Calibri"/>
              </a:rPr>
              <a:t>27%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8200" y="4372302"/>
            <a:ext cx="6324600" cy="95250"/>
          </a:xfrm>
          <a:prstGeom prst="roundRect">
            <a:avLst>
              <a:gd name="adj" fmla="val 50000"/>
            </a:avLst>
          </a:prstGeom>
          <a:solidFill>
            <a:srgbClr val="141E2D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8200" y="4372302"/>
            <a:ext cx="3415284" cy="95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0A6FA">
                  <a:alpha val="92000"/>
                </a:srgbClr>
              </a:gs>
              <a:gs pos="100000">
                <a:srgbClr val="4CE6F9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200" y="4626565"/>
            <a:ext cx="285750" cy="142875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量测检测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9915" y="4621802"/>
            <a:ext cx="222885" cy="14859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0F172A">
                    <a:alpha val="85000"/>
                  </a:srgbClr>
                </a:solidFill>
                <a:latin typeface="Calibri"/>
                <a:ea typeface="Calibri"/>
                <a:cs typeface="Calibri"/>
              </a:rPr>
              <a:t>10%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8200" y="4851273"/>
            <a:ext cx="6324600" cy="95250"/>
          </a:xfrm>
          <a:prstGeom prst="roundRect">
            <a:avLst>
              <a:gd name="adj" fmla="val 50000"/>
            </a:avLst>
          </a:prstGeom>
          <a:solidFill>
            <a:srgbClr val="141E2D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8200" y="4851273"/>
            <a:ext cx="1264920" cy="95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2B5CC">
                  <a:alpha val="92000"/>
                </a:srgbClr>
              </a:gs>
              <a:gs pos="100000">
                <a:srgbClr val="9FB3B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200" y="5105536"/>
            <a:ext cx="285750" cy="142875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涂胶显影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4210" y="5100774"/>
            <a:ext cx="148590" cy="14859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0F172A">
                    <a:alpha val="85000"/>
                  </a:srgbClr>
                </a:solidFill>
                <a:latin typeface="Calibri"/>
                <a:ea typeface="Calibri"/>
                <a:cs typeface="Calibri"/>
              </a:rPr>
              <a:t>5%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8200" y="5330244"/>
            <a:ext cx="6324600" cy="95250"/>
          </a:xfrm>
          <a:prstGeom prst="roundRect">
            <a:avLst>
              <a:gd name="adj" fmla="val 50000"/>
            </a:avLst>
          </a:prstGeom>
          <a:solidFill>
            <a:srgbClr val="141E2D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8200" y="5330244"/>
            <a:ext cx="632460" cy="95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876F6">
                  <a:alpha val="92000"/>
                </a:srgbClr>
              </a:gs>
              <a:gs pos="100000">
                <a:srgbClr val="5479F3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200" y="5584508"/>
            <a:ext cx="285750" cy="142875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光刻设备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4210" y="5579745"/>
            <a:ext cx="148590" cy="14859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>
                <a:solidFill>
                  <a:srgbClr val="0F172A">
                    <a:alpha val="85000"/>
                  </a:srgbClr>
                </a:solidFill>
                <a:latin typeface="Calibri"/>
                <a:ea typeface="Calibri"/>
                <a:cs typeface="Calibri"/>
              </a:rPr>
              <a:t>1%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8200" y="5809216"/>
            <a:ext cx="6324600" cy="95250"/>
          </a:xfrm>
          <a:prstGeom prst="roundRect">
            <a:avLst>
              <a:gd name="adj" fmla="val 50000"/>
            </a:avLst>
          </a:prstGeom>
          <a:solidFill>
            <a:srgbClr val="141E2D">
              <a:alpha val="55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38200" y="5809216"/>
            <a:ext cx="126492" cy="95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4A0EB">
                  <a:alpha val="92000"/>
                </a:srgbClr>
              </a:gs>
              <a:gs pos="100000">
                <a:srgbClr val="2AE6E5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48600" y="952500"/>
            <a:ext cx="3962400" cy="2619375"/>
          </a:xfrm>
          <a:prstGeom prst="roundRect">
            <a:avLst>
              <a:gd name="adj" fmla="val 2909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8001000" y="962025"/>
            <a:ext cx="36576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8115300" y="1143000"/>
            <a:ext cx="920115" cy="26289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725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洼地的弹性来源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15300" y="1533525"/>
            <a:ext cx="1062990" cy="3543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325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替代斜率最大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5300" y="2085975"/>
            <a:ext cx="1068705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75" b="0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低国产化并不等于低价值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15300" y="2390775"/>
            <a:ext cx="109728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跨过客户验证后，单点突破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15300" y="2638425"/>
            <a:ext cx="109728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可转为批量导入，收入增速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15300" y="2886075"/>
            <a:ext cx="91440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与业绩弹性同步放大。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48600" y="3762375"/>
            <a:ext cx="3962400" cy="2619375"/>
          </a:xfrm>
          <a:prstGeom prst="roundRect">
            <a:avLst>
              <a:gd name="adj" fmla="val 2909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8001000" y="3771900"/>
            <a:ext cx="36576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8115300" y="3952875"/>
            <a:ext cx="920115" cy="26289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725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成熟环节的角色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5300" y="4343400"/>
            <a:ext cx="1062990" cy="3543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325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稳定兑现底座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15300" y="4895850"/>
            <a:ext cx="1457325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75" b="0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高国产化环节已形成批量采购基础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15300" y="5200650"/>
            <a:ext cx="128016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替代空间相对收敛，更多体现为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15300" y="5448300"/>
            <a:ext cx="118872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稳健兑现；优先寻找低渗透与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15300" y="5695950"/>
            <a:ext cx="82296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可验证的细分交集。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1950" y="457200"/>
            <a:ext cx="76200" cy="209550"/>
          </a:xfrm>
          <a:prstGeom prst="roundRect">
            <a:avLst>
              <a:gd name="adj" fmla="val 50000"/>
            </a:avLst>
          </a:pr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2450" y="381000"/>
            <a:ext cx="2080260" cy="2971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50" b="1">
                <a:solidFill>
                  <a:srgbClr val="0F172A"/>
                </a:solidFill>
                <a:latin typeface="system-ui"/>
                <a:ea typeface="system-ui"/>
                <a:cs typeface="system-ui"/>
              </a:rPr>
              <a:t>国产化率</a:t>
            </a:r>
            <a:r>
              <a:rPr sz="195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system-ui"/>
                <a:ea typeface="system-ui"/>
                <a:cs typeface="system-ui"/>
              </a:rPr>
              <a:t>洼地</a:t>
            </a:r>
            <a:r>
              <a:rPr sz="1950" b="1">
                <a:solidFill>
                  <a:srgbClr val="0F172A"/>
                </a:solidFill>
                <a:latin typeface="system-ui"/>
                <a:ea typeface="system-ui"/>
                <a:cs typeface="system-ui"/>
              </a:rPr>
              <a:t>决定细分设备弹性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BF1F8"/>
              </a:gs>
            </a:gsLst>
            <a:lin scaled="0" ang="17961465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D63ED">
                  <a:alpha val="10000"/>
                </a:srgbClr>
              </a:gs>
              <a:gs pos="100000">
                <a:srgbClr val="1D63ED">
                  <a:alpha val="0"/>
                </a:srgbClr>
              </a:gs>
            </a:gsLst>
            <a:path path="circle">
              <a:fillToRect l="88000" t="12000" r="12000" b="88000"/>
            </a:path>
            <a:tileRect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1000" y="952500"/>
            <a:ext cx="4953000" cy="5429250"/>
          </a:xfrm>
          <a:prstGeom prst="roundRect">
            <a:avLst>
              <a:gd name="adj" fmla="val 1538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33400" y="962025"/>
            <a:ext cx="46482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685800" y="1352550"/>
            <a:ext cx="36576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核心判断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04975"/>
            <a:ext cx="1234440" cy="4114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两类主线并行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62200"/>
            <a:ext cx="1885950" cy="3429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25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广度 ×amp; 深度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971800"/>
            <a:ext cx="4343400" cy="0"/>
          </a:xfrm>
          <a:prstGeom prst="line">
            <a:avLst/>
          </a:prstGeom>
          <a:ln w="9525">
            <a:solidFill>
              <a:srgbClr val="CBD5E1"/>
            </a:solidFill>
            <a:prstDash val="solid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685800" y="3209925"/>
            <a:ext cx="1737360" cy="6515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425" b="0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国产替代并非单一赛道竞争：</a:t>
            </a:r>
          </a:p>
          <a:p>
            <a:pPr algn="l"/>
            <a:r>
              <a:rPr sz="1425" b="0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平台龙头靠覆盖广度获取确定性，</a:t>
            </a:r>
          </a:p>
          <a:p>
            <a:pPr algn="l"/>
            <a:r>
              <a:rPr sz="1425" b="0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专精设备靠工艺深度释放细分弹性。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819650"/>
            <a:ext cx="4343400" cy="1066800"/>
          </a:xfrm>
          <a:prstGeom prst="roundRect">
            <a:avLst>
              <a:gd name="adj" fmla="val 10714"/>
            </a:avLst>
          </a:prstGeom>
          <a:solidFill>
            <a:srgbClr val="EDF3FA"/>
          </a:solidFill>
          <a:ln w="9525">
            <a:solidFill>
              <a:srgbClr val="CBD5E1">
                <a:alpha val="4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19675"/>
            <a:ext cx="411480" cy="2057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观察框架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62575"/>
            <a:ext cx="82296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平台能力看覆盖范围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10225"/>
            <a:ext cx="82296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专精能力看单点工艺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62600" y="952500"/>
            <a:ext cx="6248400" cy="2619375"/>
          </a:xfrm>
          <a:prstGeom prst="roundRect">
            <a:avLst>
              <a:gd name="adj" fmla="val 2909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5715000" y="962025"/>
            <a:ext cx="59436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17" name="Rounded Rectangle 16"/>
          <p:cNvSpPr/>
          <p:nvPr/>
        </p:nvSpPr>
        <p:spPr>
          <a:xfrm>
            <a:off x="5562600" y="952500"/>
            <a:ext cx="76200" cy="2619375"/>
          </a:xfrm>
          <a:prstGeom prst="roundRect">
            <a:avLst>
              <a:gd name="adj" fmla="val 50000"/>
            </a:avLst>
          </a:pr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05500" y="1200150"/>
            <a:ext cx="150876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平台龙头：覆盖换确定性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5500" y="1685925"/>
            <a:ext cx="857250" cy="3429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25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七大类设备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5500" y="2257425"/>
            <a:ext cx="1645920" cy="6172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北方华创覆盖刻蚀、薄膜、热处理、</a:t>
            </a:r>
          </a:p>
          <a:p>
            <a:pPr algn="l"/>
            <a:r>
              <a:rPr sz="1350" b="0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湿法清洗等七大类设备，</a:t>
            </a:r>
          </a:p>
          <a:p>
            <a:pPr algn="l"/>
            <a:r>
              <a:rPr sz="1350" b="0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以多工艺协同承接晶圆厂整线需求。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62600" y="3762375"/>
            <a:ext cx="6248400" cy="2619375"/>
          </a:xfrm>
          <a:prstGeom prst="roundRect">
            <a:avLst>
              <a:gd name="adj" fmla="val 2909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5715000" y="3771900"/>
            <a:ext cx="59436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23" name="Rounded Rectangle 22"/>
          <p:cNvSpPr/>
          <p:nvPr/>
        </p:nvSpPr>
        <p:spPr>
          <a:xfrm>
            <a:off x="5562600" y="3762375"/>
            <a:ext cx="76200" cy="261937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05500" y="4010025"/>
            <a:ext cx="1371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专精设备：深度换弹性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5500" y="4495800"/>
            <a:ext cx="1028700" cy="3429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25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关键工位突破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5500" y="5067300"/>
            <a:ext cx="1851660" cy="6172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中微聚焦刻蚀、拓荆深耕薄膜沉积、</a:t>
            </a:r>
          </a:p>
          <a:p>
            <a:pPr algn="l"/>
            <a:r>
              <a:rPr sz="1350" b="0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盛美专注清洗与电镀，</a:t>
            </a:r>
          </a:p>
          <a:p>
            <a:pPr algn="l"/>
            <a:r>
              <a:rPr sz="1350" b="0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单点工艺突破更深，替代放量弹性更强。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1950" y="457200"/>
            <a:ext cx="76200" cy="209550"/>
          </a:xfrm>
          <a:prstGeom prst="roundRect">
            <a:avLst>
              <a:gd name="adj" fmla="val 50000"/>
            </a:avLst>
          </a:pr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2450" y="381000"/>
            <a:ext cx="2228850" cy="2971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5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平台龙头与专精设备形成两类主线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BF1F8"/>
              </a:gs>
            </a:gsLst>
            <a:lin scaled="0" ang="17961465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D63ED">
                  <a:alpha val="10000"/>
                </a:srgbClr>
              </a:gs>
              <a:gs pos="100000">
                <a:srgbClr val="1D63ED">
                  <a:alpha val="0"/>
                </a:srgbClr>
              </a:gs>
            </a:gsLst>
            <a:path path="circle">
              <a:fillToRect l="88000" t="12000" r="12000" b="88000"/>
            </a:path>
            <a:tileRect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38500" y="238125"/>
            <a:ext cx="5715000" cy="57150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37500" b="1">
                <a:solidFill>
                  <a:srgbClr val="CBD5E1">
                    <a:alpha val="50000"/>
                  </a:srgbClr>
                </a:solidFill>
                <a:latin typeface="HarmonyOS Sans SC"/>
                <a:ea typeface="HarmonyOS Sans SC"/>
                <a:cs typeface="HarmonyOS Sans S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55945" y="2266950"/>
            <a:ext cx="880110" cy="2514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1D63ED"/>
                </a:solidFill>
                <a:latin typeface="HarmonyOS Sans SC"/>
                <a:ea typeface="HarmonyOS Sans SC"/>
                <a:cs typeface="HarmonyOS Sans SC"/>
              </a:rPr>
              <a:t>PART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95700" y="2762250"/>
            <a:ext cx="4800600" cy="8001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525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重点公司分层比较成长质量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5890" y="3838575"/>
            <a:ext cx="1760220" cy="2514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从收入弹性与兑现能力筛选标的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BF1F8"/>
              </a:gs>
            </a:gsLst>
            <a:lin scaled="0" ang="17961465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D63ED">
                  <a:alpha val="10000"/>
                </a:srgbClr>
              </a:gs>
              <a:gs pos="100000">
                <a:srgbClr val="1D63ED">
                  <a:alpha val="0"/>
                </a:srgbClr>
              </a:gs>
            </a:gsLst>
            <a:path path="circle">
              <a:fillToRect l="88000" t="12000" r="12000" b="88000"/>
            </a:path>
            <a:tileRect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1000" y="952500"/>
            <a:ext cx="11430000" cy="152400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33400" y="962025"/>
            <a:ext cx="111252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647700" y="1152525"/>
            <a:ext cx="1851660" cy="4114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订单多不等于</a:t>
            </a:r>
            <a:r>
              <a:rPr sz="270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质量高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1638300"/>
            <a:ext cx="1131570" cy="2057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从订单到现金的五道验证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1990725"/>
            <a:ext cx="1200150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兑现优先，才能识别真实成长。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62500" y="1181100"/>
            <a:ext cx="6591300" cy="1066800"/>
          </a:xfrm>
          <a:prstGeom prst="roundRect">
            <a:avLst>
              <a:gd name="adj" fmla="val 10714"/>
            </a:avLst>
          </a:prstGeom>
          <a:solidFill>
            <a:srgbClr val="EDF3FA"/>
          </a:solidFill>
          <a:ln w="9525">
            <a:solidFill>
              <a:srgbClr val="CBD5E1">
                <a:alpha val="4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304925"/>
            <a:ext cx="480060" cy="2400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75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核心判断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581150"/>
            <a:ext cx="1371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订单只能证明需求存在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914525"/>
            <a:ext cx="2817495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75" b="0">
                <a:solidFill>
                  <a:srgbClr val="475569"/>
                </a:solidFill>
                <a:latin typeface="HarmonyOS Sans SC"/>
                <a:ea typeface="HarmonyOS Sans SC"/>
                <a:cs typeface="HarmonyOS Sans SC"/>
              </a:rPr>
              <a:t>收入、毛利、扣非利润与现金流同步改善，才代表成长真正兑现。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1000" y="2667000"/>
            <a:ext cx="3552825" cy="1714500"/>
          </a:xfrm>
          <a:prstGeom prst="roundRect">
            <a:avLst>
              <a:gd name="adj" fmla="val 4444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33400" y="2676525"/>
            <a:ext cx="3248025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09600" y="2819400"/>
            <a:ext cx="720090" cy="2400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75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①订单能见度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143250"/>
            <a:ext cx="822960" cy="2057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看“已签未交付”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495675"/>
            <a:ext cx="1114425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>
                <a:solidFill>
                  <a:srgbClr val="475569"/>
                </a:solidFill>
                <a:latin typeface="HarmonyOS Sans SC"/>
                <a:ea typeface="HarmonyOS Sans SC"/>
                <a:cs typeface="HarmonyOS Sans SC"/>
              </a:rPr>
              <a:t>重点看合同负债与在手订单，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3724275"/>
            <a:ext cx="1114425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>
                <a:solidFill>
                  <a:srgbClr val="475569"/>
                </a:solidFill>
                <a:latin typeface="HarmonyOS Sans SC"/>
                <a:ea typeface="HarmonyOS Sans SC"/>
                <a:cs typeface="HarmonyOS Sans SC"/>
              </a:rPr>
              <a:t>区分可执行订单和远期框架。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000500"/>
            <a:ext cx="2080260" cy="1600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北方华创订单超850亿元，排产延至2027年三季度。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24325" y="2667000"/>
            <a:ext cx="3552825" cy="1714500"/>
          </a:xfrm>
          <a:prstGeom prst="roundRect">
            <a:avLst>
              <a:gd name="adj" fmla="val 4444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276725" y="2676525"/>
            <a:ext cx="3248025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4352925" y="2819400"/>
            <a:ext cx="600075" cy="2400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75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②收入兑现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2925" y="3143250"/>
            <a:ext cx="617220" cy="2057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看订单转收入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2925" y="3495675"/>
            <a:ext cx="1200150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>
                <a:solidFill>
                  <a:srgbClr val="475569"/>
                </a:solidFill>
                <a:latin typeface="HarmonyOS Sans SC"/>
                <a:ea typeface="HarmonyOS Sans SC"/>
                <a:cs typeface="HarmonyOS Sans SC"/>
              </a:rPr>
              <a:t>订单必须经过交付、安装与验收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52925" y="3724275"/>
            <a:ext cx="1200150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>
                <a:solidFill>
                  <a:srgbClr val="475569"/>
                </a:solidFill>
                <a:latin typeface="HarmonyOS Sans SC"/>
                <a:ea typeface="HarmonyOS Sans SC"/>
                <a:cs typeface="HarmonyOS Sans SC"/>
              </a:rPr>
              <a:t>才能确收，关注收入释放节奏。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2925" y="4000500"/>
            <a:ext cx="1520190" cy="1600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中科飞测合同负债较年初增长55.8%。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7650" y="2667000"/>
            <a:ext cx="3943350" cy="1714500"/>
          </a:xfrm>
          <a:prstGeom prst="roundRect">
            <a:avLst>
              <a:gd name="adj" fmla="val 4444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020050" y="2676525"/>
            <a:ext cx="363855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8096250" y="2819400"/>
            <a:ext cx="720090" cy="2400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75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③毛利稳定性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6250" y="3143250"/>
            <a:ext cx="514350" cy="2057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看产品结构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6250" y="3495675"/>
            <a:ext cx="1200150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>
                <a:solidFill>
                  <a:srgbClr val="475569"/>
                </a:solidFill>
                <a:latin typeface="HarmonyOS Sans SC"/>
                <a:ea typeface="HarmonyOS Sans SC"/>
                <a:cs typeface="HarmonyOS Sans SC"/>
              </a:rPr>
              <a:t>毛利率及其变化反映产品价值量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6250" y="3724275"/>
            <a:ext cx="1114425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>
                <a:solidFill>
                  <a:srgbClr val="475569"/>
                </a:solidFill>
                <a:latin typeface="HarmonyOS Sans SC"/>
                <a:ea typeface="HarmonyOS Sans SC"/>
                <a:cs typeface="HarmonyOS Sans SC"/>
              </a:rPr>
              <a:t>与订单质量，验证盈利基础。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6250" y="4000500"/>
            <a:ext cx="1520190" cy="1600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长川科技2025年毛利率55.05%。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1000" y="4572000"/>
            <a:ext cx="3552825" cy="1809750"/>
          </a:xfrm>
          <a:prstGeom prst="roundRect">
            <a:avLst>
              <a:gd name="adj" fmla="val 4210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533400" y="4581525"/>
            <a:ext cx="3248025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609600" y="4724400"/>
            <a:ext cx="720090" cy="2400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75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④利润含金量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5048250"/>
            <a:ext cx="720090" cy="2057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看扣非与ROE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5400675"/>
            <a:ext cx="1285875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>
                <a:solidFill>
                  <a:srgbClr val="475569"/>
                </a:solidFill>
                <a:latin typeface="HarmonyOS Sans SC"/>
                <a:ea typeface="HarmonyOS Sans SC"/>
                <a:cs typeface="HarmonyOS Sans SC"/>
              </a:rPr>
              <a:t>净利润增长还要接受扣非与ROE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5629275"/>
            <a:ext cx="1114425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>
                <a:solidFill>
                  <a:srgbClr val="475569"/>
                </a:solidFill>
                <a:latin typeface="HarmonyOS Sans SC"/>
                <a:ea typeface="HarmonyOS Sans SC"/>
                <a:cs typeface="HarmonyOS Sans SC"/>
              </a:rPr>
              <a:t>检验，避免一次性收益干扰。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5943600"/>
            <a:ext cx="2080260" cy="1600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中科飞测2025年扭亏，扣非归母仍亏损1.23亿元。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24325" y="4572000"/>
            <a:ext cx="3552825" cy="1809750"/>
          </a:xfrm>
          <a:prstGeom prst="roundRect">
            <a:avLst>
              <a:gd name="adj" fmla="val 4210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4276725" y="4581525"/>
            <a:ext cx="3248025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4352925" y="4724400"/>
            <a:ext cx="600075" cy="2400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75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⑤现金转化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52925" y="5048250"/>
            <a:ext cx="720090" cy="2057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看利润是否收现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52925" y="5400675"/>
            <a:ext cx="1200150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>
                <a:solidFill>
                  <a:srgbClr val="475569"/>
                </a:solidFill>
                <a:latin typeface="HarmonyOS Sans SC"/>
                <a:ea typeface="HarmonyOS Sans SC"/>
                <a:cs typeface="HarmonyOS Sans SC"/>
              </a:rPr>
              <a:t>经营现金流与归母净利的匹配度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52925" y="5629275"/>
            <a:ext cx="1200150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>
                <a:solidFill>
                  <a:srgbClr val="475569"/>
                </a:solidFill>
                <a:latin typeface="HarmonyOS Sans SC"/>
                <a:ea typeface="HarmonyOS Sans SC"/>
                <a:cs typeface="HarmonyOS Sans SC"/>
              </a:rPr>
              <a:t>决定回款质量，识别资金占用。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52925" y="5943600"/>
            <a:ext cx="1280160" cy="1600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拓荆科技OCF/归母仅8.6%。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67650" y="4572000"/>
            <a:ext cx="3943350" cy="1809750"/>
          </a:xfrm>
          <a:prstGeom prst="roundRect">
            <a:avLst>
              <a:gd name="adj" fmla="val 4210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8020050" y="4581525"/>
            <a:ext cx="363855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8096250" y="4733925"/>
            <a:ext cx="617220" cy="3086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025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初筛分层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6250" y="5124450"/>
            <a:ext cx="1131570" cy="2057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兑现优先 ≠ 订单优先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6250" y="5476875"/>
            <a:ext cx="771525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>
                <a:solidFill>
                  <a:srgbClr val="475569"/>
                </a:solidFill>
                <a:latin typeface="HarmonyOS Sans SC"/>
                <a:ea typeface="HarmonyOS Sans SC"/>
                <a:cs typeface="HarmonyOS Sans SC"/>
              </a:rPr>
              <a:t>兑现优先：长川科技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6250" y="5705475"/>
            <a:ext cx="1114425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>
                <a:solidFill>
                  <a:srgbClr val="475569"/>
                </a:solidFill>
                <a:latin typeface="HarmonyOS Sans SC"/>
                <a:ea typeface="HarmonyOS Sans SC"/>
                <a:cs typeface="HarmonyOS Sans SC"/>
              </a:rPr>
              <a:t>成长观察：中科飞测、精智达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6250" y="5934075"/>
            <a:ext cx="1114425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>
                <a:solidFill>
                  <a:srgbClr val="475569"/>
                </a:solidFill>
                <a:latin typeface="HarmonyOS Sans SC"/>
                <a:ea typeface="HarmonyOS Sans SC"/>
                <a:cs typeface="HarmonyOS Sans SC"/>
              </a:rPr>
              <a:t>重点复核：拓荆科技现金质量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6250" y="6143625"/>
            <a:ext cx="817245" cy="14859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结论仍须统一口径验证。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61950" y="457200"/>
            <a:ext cx="76200" cy="209550"/>
          </a:xfrm>
          <a:prstGeom prst="roundRect">
            <a:avLst>
              <a:gd name="adj" fmla="val 50000"/>
            </a:avLst>
          </a:pr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2450" y="381000"/>
            <a:ext cx="2228850" cy="2971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50" b="1">
                <a:solidFill>
                  <a:srgbClr val="0F172A"/>
                </a:solidFill>
                <a:latin typeface="system-ui"/>
                <a:ea typeface="system-ui"/>
                <a:cs typeface="system-ui"/>
              </a:rPr>
              <a:t>五维指标筛选订单兑现与盈利质量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BF1F8"/>
              </a:gs>
            </a:gsLst>
            <a:lin scaled="0" ang="17961465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D63ED">
                  <a:alpha val="10000"/>
                </a:srgbClr>
              </a:gs>
              <a:gs pos="100000">
                <a:srgbClr val="1D63ED">
                  <a:alpha val="0"/>
                </a:srgbClr>
              </a:gs>
            </a:gsLst>
            <a:path path="circle">
              <a:fillToRect l="88000" t="12000" r="12000" b="88000"/>
            </a:path>
            <a:tileRect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742950"/>
            <a:ext cx="283464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不按规模简单排序，回到设备环节识别平台覆盖、细分卡位与突破进度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1028700"/>
            <a:ext cx="11430000" cy="1733550"/>
          </a:xfrm>
          <a:prstGeom prst="roundRect">
            <a:avLst>
              <a:gd name="adj" fmla="val 4395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33400" y="1038225"/>
            <a:ext cx="111252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647700" y="1238250"/>
            <a:ext cx="80010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竞争位置分三类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1581150"/>
            <a:ext cx="1440180" cy="1600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平台广度 × 环节深度 × 替代弹性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7700" y="1943100"/>
            <a:ext cx="3638550" cy="28575"/>
          </a:xfrm>
          <a:prstGeom prst="roundRect">
            <a:avLst>
              <a:gd name="adj" fmla="val 50000"/>
            </a:avLst>
          </a:pr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3000" y="1228725"/>
            <a:ext cx="45720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比较方法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3000" y="1581150"/>
            <a:ext cx="2240280" cy="3200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观察名单不宜按规模简单排序，应回到设备环节比较。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平台型龙头看覆盖，细分龙头看卡位，突破型公司看验证进度。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2952750"/>
            <a:ext cx="11430000" cy="3429000"/>
          </a:xfrm>
          <a:prstGeom prst="roundRect">
            <a:avLst>
              <a:gd name="adj" fmla="val 2222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33400" y="2962275"/>
            <a:ext cx="111252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647700" y="3095625"/>
            <a:ext cx="80010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各环节核心卡位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3171825"/>
            <a:ext cx="617220" cy="1371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八家公司，三类位置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1147" y="3590925"/>
            <a:ext cx="228600" cy="1143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1D63ED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设备环节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8971" y="3590925"/>
            <a:ext cx="228600" cy="1143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1D63ED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位置类型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92588" y="3590925"/>
            <a:ext cx="228600" cy="1143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1D63ED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竞争位置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3015" y="3590925"/>
            <a:ext cx="228600" cy="1143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1D63ED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核心卡位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86188"/>
            <a:ext cx="10820400" cy="244078"/>
          </a:xfrm>
          <a:prstGeom prst="roundRect">
            <a:avLst>
              <a:gd name="adj" fmla="val 31219"/>
            </a:avLst>
          </a:prstGeom>
          <a:solidFill>
            <a:srgbClr val="1D63ED">
              <a:alpha val="8000"/>
            </a:srgbClr>
          </a:solidFill>
          <a:ln w="9525">
            <a:solidFill>
              <a:srgbClr val="1D63ED">
                <a:alpha val="3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" y="3841171"/>
            <a:ext cx="251460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北方华创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5420" y="3841171"/>
            <a:ext cx="440055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多品类前道平台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6108" y="3841171"/>
            <a:ext cx="314325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平台型龙头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6806" y="3841171"/>
            <a:ext cx="1320165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覆盖刻蚀、沉积、清洗、热处理等多类前道设备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4395" y="3841171"/>
            <a:ext cx="1005840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平台覆盖最广，承担一站式设备供给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2950" y="4054078"/>
            <a:ext cx="10706100" cy="0"/>
          </a:xfrm>
          <a:prstGeom prst="line">
            <a:avLst/>
          </a:prstGeom>
          <a:ln w="9525">
            <a:solidFill>
              <a:srgbClr val="FFFFFF">
                <a:alpha val="85000"/>
              </a:srgbClr>
            </a:solidFill>
            <a:prstDash val="dash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800100" y="4132874"/>
            <a:ext cx="251460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中微公司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5420" y="4132874"/>
            <a:ext cx="440055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刻蚀 / 薄膜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7541" y="4132874"/>
            <a:ext cx="251460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细分龙头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78238" y="4132874"/>
            <a:ext cx="1257300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刻蚀设备龙头，先进制程量产与薄膜放量并行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8692" y="4132874"/>
            <a:ext cx="817245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以刻蚀深度建立高端工艺壁垒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2950" y="4345781"/>
            <a:ext cx="10706100" cy="0"/>
          </a:xfrm>
          <a:prstGeom prst="line">
            <a:avLst/>
          </a:prstGeom>
          <a:ln w="9525">
            <a:solidFill>
              <a:srgbClr val="FFFFFF">
                <a:alpha val="85000"/>
              </a:srgbClr>
            </a:solidFill>
            <a:prstDash val="dash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800100" y="4424577"/>
            <a:ext cx="251460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拓荆科技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19717" y="4424577"/>
            <a:ext cx="251460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薄膜沉积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7541" y="4424577"/>
            <a:ext cx="251460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细分龙头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373" y="4424577"/>
            <a:ext cx="1383030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PECVD、ALD量产主力，薄膜沉积专注度高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2962" y="4424577"/>
            <a:ext cx="1068705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薄膜设备产品放量与客户验证同步推进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42950" y="4637484"/>
            <a:ext cx="10706100" cy="0"/>
          </a:xfrm>
          <a:prstGeom prst="line">
            <a:avLst/>
          </a:prstGeom>
          <a:ln w="9525">
            <a:solidFill>
              <a:srgbClr val="FFFFFF">
                <a:alpha val="85000"/>
              </a:srgbClr>
            </a:solidFill>
            <a:prstDash val="dash"/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800100" y="4716280"/>
            <a:ext cx="251460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盛美上海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19717" y="4716280"/>
            <a:ext cx="251460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清洗设备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7541" y="4716280"/>
            <a:ext cx="251460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细分龙头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46806" y="4716280"/>
            <a:ext cx="1320165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清洗设备龙头，SAPS、TEBO形成差异化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58692" y="4716280"/>
            <a:ext cx="817245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由清洗单点向多产品平台延伸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2950" y="4929188"/>
            <a:ext cx="10706100" cy="0"/>
          </a:xfrm>
          <a:prstGeom prst="line">
            <a:avLst/>
          </a:prstGeom>
          <a:ln w="9525">
            <a:solidFill>
              <a:srgbClr val="FFFFFF">
                <a:alpha val="85000"/>
              </a:srgbClr>
            </a:solidFill>
            <a:prstDash val="dash"/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800100" y="5007983"/>
            <a:ext cx="251460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华海清科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88285" y="5007983"/>
            <a:ext cx="314325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CMP设备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07541" y="5007983"/>
            <a:ext cx="251460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细分龙头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09671" y="5007983"/>
            <a:ext cx="1194435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12英寸CMP量产龙头，先进产线覆盖深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58692" y="5007983"/>
            <a:ext cx="817245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在抛光环节形成稀缺量产能力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42950" y="5220891"/>
            <a:ext cx="10706100" cy="0"/>
          </a:xfrm>
          <a:prstGeom prst="line">
            <a:avLst/>
          </a:prstGeom>
          <a:ln w="9525">
            <a:solidFill>
              <a:srgbClr val="FFFFFF">
                <a:alpha val="85000"/>
              </a:srgbClr>
            </a:solidFill>
            <a:prstDash val="dash"/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800100" y="5299686"/>
            <a:ext cx="251460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长川科技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19717" y="5299686"/>
            <a:ext cx="251460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测试设备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07541" y="5299686"/>
            <a:ext cx="251460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细分龙头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09671" y="5299686"/>
            <a:ext cx="1194435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测试机与分选机双产品布局，后道设备龙头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01530" y="5299686"/>
            <a:ext cx="1131570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测试环节产品矩阵较完整，利润弹性突出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42950" y="5512594"/>
            <a:ext cx="10706100" cy="0"/>
          </a:xfrm>
          <a:prstGeom prst="line">
            <a:avLst/>
          </a:prstGeom>
          <a:ln w="9525">
            <a:solidFill>
              <a:srgbClr val="FFFFFF">
                <a:alpha val="85000"/>
              </a:srgbClr>
            </a:solidFill>
            <a:prstDash val="dash"/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800100" y="5591389"/>
            <a:ext cx="188595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芯源微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19717" y="5591389"/>
            <a:ext cx="251460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涂胶显影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76108" y="5591389"/>
            <a:ext cx="314325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突破型公司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15373" y="5591389"/>
            <a:ext cx="1383030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Track国产替代主力，纳入平台后协同待验证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32962" y="5591389"/>
            <a:ext cx="1068705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低渗透环节稀缺，成长取决于前道放量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42950" y="5804297"/>
            <a:ext cx="10706100" cy="0"/>
          </a:xfrm>
          <a:prstGeom prst="line">
            <a:avLst/>
          </a:prstGeom>
          <a:ln w="9525">
            <a:solidFill>
              <a:srgbClr val="FFFFFF">
                <a:alpha val="85000"/>
              </a:srgbClr>
            </a:solidFill>
            <a:prstDash val="dash"/>
          </a:ln>
          <a:effectLst/>
        </p:spPr>
      </p:cxnSp>
      <p:sp>
        <p:nvSpPr>
          <p:cNvPr id="63" name="TextBox 62"/>
          <p:cNvSpPr txBox="1"/>
          <p:nvPr/>
        </p:nvSpPr>
        <p:spPr>
          <a:xfrm>
            <a:off x="800100" y="5883092"/>
            <a:ext cx="251460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中科飞测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88285" y="5883092"/>
            <a:ext cx="314325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量检测设备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76108" y="5883092"/>
            <a:ext cx="314325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突破型公司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41103" y="5883092"/>
            <a:ext cx="1131570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量检测国产替代先锋，处于低渗透突破位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01530" y="5883092"/>
            <a:ext cx="1131570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475569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技术壁垒高，客户验证与规模化仍是关键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61950" y="457200"/>
            <a:ext cx="76200" cy="209550"/>
          </a:xfrm>
          <a:prstGeom prst="roundRect">
            <a:avLst>
              <a:gd name="adj" fmla="val 50000"/>
            </a:avLst>
          </a:pr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2450" y="381000"/>
            <a:ext cx="2228850" cy="2971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50" b="1">
                <a:solidFill>
                  <a:srgbClr val="0F172A"/>
                </a:solidFill>
                <a:latin typeface="system-ui"/>
                <a:ea typeface="system-ui"/>
                <a:cs typeface="system-ui"/>
              </a:rPr>
              <a:t>观察名单按设备环节比较竞争位置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BF1F8"/>
              </a:gs>
            </a:gsLst>
            <a:lin scaled="0" ang="17961465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D63ED">
                  <a:alpha val="10000"/>
                </a:srgbClr>
              </a:gs>
              <a:gs pos="100000">
                <a:srgbClr val="1D63ED">
                  <a:alpha val="0"/>
                </a:srgbClr>
              </a:gs>
            </a:gsLst>
            <a:path path="circle">
              <a:fillToRect l="88000" t="12000" r="12000" b="88000"/>
            </a:path>
            <a:tileRect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38500" y="238125"/>
            <a:ext cx="5715000" cy="57150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37500" b="1">
                <a:solidFill>
                  <a:srgbClr val="CBD5E1">
                    <a:alpha val="50000"/>
                  </a:srgbClr>
                </a:solidFill>
                <a:latin typeface="HarmonyOS Sans SC"/>
                <a:ea typeface="HarmonyOS Sans SC"/>
                <a:cs typeface="HarmonyOS Sans S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55945" y="2266950"/>
            <a:ext cx="880110" cy="2514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1D63ED"/>
                </a:solidFill>
                <a:latin typeface="HarmonyOS Sans SC"/>
                <a:ea typeface="HarmonyOS Sans SC"/>
                <a:cs typeface="HarmonyOS Sans SC"/>
              </a:rPr>
              <a:t>PART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95700" y="2762250"/>
            <a:ext cx="4800600" cy="8001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525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风险收益框架决定配置纪律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8755" y="3838575"/>
            <a:ext cx="1634490" cy="2514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在估值波动与业绩兑现间取舍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BF1F8"/>
              </a:gs>
            </a:gsLst>
            <a:lin scaled="0" ang="17961465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D63ED">
                  <a:alpha val="10000"/>
                </a:srgbClr>
              </a:gs>
              <a:gs pos="100000">
                <a:srgbClr val="1D63ED">
                  <a:alpha val="0"/>
                </a:srgbClr>
              </a:gs>
            </a:gsLst>
            <a:path path="circle">
              <a:fillToRect l="88000" t="12000" r="12000" b="88000"/>
            </a:path>
            <a:tileRect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1000" y="952500"/>
            <a:ext cx="11430000" cy="2095500"/>
          </a:xfrm>
          <a:prstGeom prst="roundRect">
            <a:avLst>
              <a:gd name="adj" fmla="val 3636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33400" y="962025"/>
            <a:ext cx="111252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647700" y="1190625"/>
            <a:ext cx="45720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风险核心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1543050"/>
            <a:ext cx="1851660" cy="4114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高估值</a:t>
            </a:r>
            <a:r>
              <a:rPr sz="27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× 周期反转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2114550"/>
            <a:ext cx="91440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长期国产替代逻辑未破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2352675"/>
            <a:ext cx="109728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但市场已提前定价未来增长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800" y="1171575"/>
            <a:ext cx="754380" cy="2514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65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回撤触发机制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0" y="1581150"/>
            <a:ext cx="1440180" cy="2057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扩产、订单或利润兑现不及预期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800" y="1885950"/>
            <a:ext cx="1131570" cy="2057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估值与盈利可能同步下修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6800" y="2362200"/>
            <a:ext cx="155448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高估值放大业绩低于预期时的回撤弹性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1000" y="3238500"/>
            <a:ext cx="6667500" cy="3143250"/>
          </a:xfrm>
          <a:prstGeom prst="roundRect">
            <a:avLst>
              <a:gd name="adj" fmla="val 2424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33400" y="3248025"/>
            <a:ext cx="63627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647700" y="3429000"/>
            <a:ext cx="754380" cy="2514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65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估值容错偏低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3724275"/>
            <a:ext cx="164592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A股设备相对海外龙头存在明显估值溢价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3895725"/>
            <a:ext cx="1411605" cy="14859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估值对比（单位：倍PE，TTM/平均）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0100" y="5619750"/>
            <a:ext cx="5867400" cy="0"/>
          </a:xfrm>
          <a:prstGeom prst="line">
            <a:avLst/>
          </a:prstGeom>
          <a:ln w="9525">
            <a:solidFill>
              <a:srgbClr val="FFFFFF">
                <a:alpha val="85000"/>
              </a:srgbClr>
            </a:solidFill>
            <a:prstDash val="dash"/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800100" y="5257800"/>
            <a:ext cx="5867400" cy="0"/>
          </a:xfrm>
          <a:prstGeom prst="line">
            <a:avLst/>
          </a:prstGeom>
          <a:ln w="9525">
            <a:solidFill>
              <a:srgbClr val="FFFFFF">
                <a:alpha val="85000"/>
              </a:srgbClr>
            </a:solidFill>
            <a:prstDash val="dash"/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800100" y="4895850"/>
            <a:ext cx="5867400" cy="0"/>
          </a:xfrm>
          <a:prstGeom prst="line">
            <a:avLst/>
          </a:prstGeom>
          <a:ln w="9525">
            <a:solidFill>
              <a:srgbClr val="FFFFFF">
                <a:alpha val="85000"/>
              </a:srgbClr>
            </a:solidFill>
            <a:prstDash val="dash"/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800100" y="4533900"/>
            <a:ext cx="5867400" cy="0"/>
          </a:xfrm>
          <a:prstGeom prst="line">
            <a:avLst/>
          </a:prstGeom>
          <a:ln w="9525">
            <a:solidFill>
              <a:srgbClr val="FFFFFF">
                <a:alpha val="85000"/>
              </a:srgbClr>
            </a:solidFill>
            <a:prstDash val="dash"/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800100" y="5981700"/>
            <a:ext cx="5867400" cy="0"/>
          </a:xfrm>
          <a:prstGeom prst="line">
            <a:avLst/>
          </a:prstGeom>
          <a:ln w="9525">
            <a:solidFill>
              <a:srgbClr val="FFFFFF">
                <a:alpha val="85000"/>
              </a:srgbClr>
            </a:solidFill>
            <a:prstDash val="dash"/>
          </a:ln>
          <a:effectLst/>
        </p:spPr>
      </p:cxnSp>
      <p:sp>
        <p:nvSpPr>
          <p:cNvPr id="24" name="Rounded Rectangle 23"/>
          <p:cNvSpPr/>
          <p:nvPr/>
        </p:nvSpPr>
        <p:spPr>
          <a:xfrm>
            <a:off x="1866900" y="4711700"/>
            <a:ext cx="800100" cy="1270000"/>
          </a:xfrm>
          <a:prstGeom prst="roundRect">
            <a:avLst>
              <a:gd name="adj" fmla="val 4761"/>
            </a:avLst>
          </a:prstGeom>
          <a:gradFill rotWithShape="1">
            <a:gsLst>
              <a:gs pos="0">
                <a:srgbClr val="3498EF"/>
              </a:gs>
              <a:gs pos="100000">
                <a:srgbClr val="5C62F2">
                  <a:alpha val="92000"/>
                </a:srgbClr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2598" y="4549775"/>
            <a:ext cx="1068705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0F172A">
                    <a:alpha val="80000"/>
                  </a:srgbClr>
                </a:solidFill>
                <a:latin typeface="Calibri"/>
                <a:ea typeface="Calibri"/>
                <a:cs typeface="Calibri"/>
              </a:rPr>
              <a:t>130.87倍PE（TTM/平均）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8340" y="6057900"/>
            <a:ext cx="617220" cy="1371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>
                    <a:alpha val="85000"/>
                  </a:srgbClr>
                </a:solidFill>
                <a:latin typeface="Calibri"/>
                <a:ea typeface="Calibri"/>
                <a:cs typeface="Calibri"/>
              </a:rPr>
              <a:t>A股半导体设备指数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5462521"/>
            <a:ext cx="800100" cy="519179"/>
          </a:xfrm>
          <a:prstGeom prst="roundRect">
            <a:avLst>
              <a:gd name="adj" fmla="val 7338"/>
            </a:avLst>
          </a:prstGeom>
          <a:gradFill rotWithShape="1">
            <a:gsLst>
              <a:gs pos="0">
                <a:srgbClr val="26D6EB"/>
              </a:gs>
              <a:gs pos="100000">
                <a:srgbClr val="518FEF">
                  <a:alpha val="92000"/>
                </a:srgbClr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29162" y="5300596"/>
            <a:ext cx="942975" cy="12573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>
                <a:solidFill>
                  <a:srgbClr val="0F172A">
                    <a:alpha val="80000"/>
                  </a:srgbClr>
                </a:solidFill>
                <a:latin typeface="Calibri"/>
                <a:ea typeface="Calibri"/>
                <a:cs typeface="Calibri"/>
              </a:rPr>
              <a:t>53.5倍PE（TTM/平均）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26330" y="6057900"/>
            <a:ext cx="548640" cy="1371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>
                    <a:alpha val="85000"/>
                  </a:srgbClr>
                </a:solidFill>
                <a:latin typeface="Calibri"/>
                <a:ea typeface="Calibri"/>
                <a:cs typeface="Calibri"/>
              </a:rPr>
              <a:t>海外设备龙头平均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77100" y="3238500"/>
            <a:ext cx="4533900" cy="1428750"/>
          </a:xfrm>
          <a:prstGeom prst="roundRect">
            <a:avLst>
              <a:gd name="adj" fmla="val 5333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7429500" y="3248025"/>
            <a:ext cx="42291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7543800" y="3381375"/>
            <a:ext cx="91440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周期反转放大波动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3667125"/>
            <a:ext cx="1805940" cy="5943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40%</a:t>
            </a:r>
            <a:r>
              <a:rPr sz="15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历史周期调整可达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4305300"/>
            <a:ext cx="100584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股价往往先于利润表下行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77100" y="4857750"/>
            <a:ext cx="4533900" cy="152400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7429500" y="4867275"/>
            <a:ext cx="42291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7543800" y="4981575"/>
            <a:ext cx="502920" cy="2514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65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配置纪律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5362575"/>
            <a:ext cx="874395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75" b="0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01 估值是否消化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5648325"/>
            <a:ext cx="1360170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75" b="0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02 合同负债与订单是否延续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5934075"/>
            <a:ext cx="1068705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75" b="0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03 收入利润是否兑现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96500" y="5953125"/>
            <a:ext cx="771525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任一转弱，降低仓位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1950" y="457200"/>
            <a:ext cx="76200" cy="209550"/>
          </a:xfrm>
          <a:prstGeom prst="roundRect">
            <a:avLst>
              <a:gd name="adj" fmla="val 50000"/>
            </a:avLst>
          </a:pr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2450" y="381000"/>
            <a:ext cx="2377440" cy="2971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5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高估值与</a:t>
            </a:r>
            <a:r>
              <a:rPr sz="195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周期反转</a:t>
            </a:r>
            <a:r>
              <a:rPr sz="195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构成主要回撤来源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BF1F8"/>
              </a:gs>
            </a:gsLst>
            <a:lin scaled="0" ang="17961465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D63ED">
                  <a:alpha val="10000"/>
                </a:srgbClr>
              </a:gs>
              <a:gs pos="100000">
                <a:srgbClr val="1D63ED">
                  <a:alpha val="0"/>
                </a:srgbClr>
              </a:gs>
            </a:gsLst>
            <a:path path="circle">
              <a:fillToRect l="88000" t="12000" r="12000" b="88000"/>
            </a:path>
            <a:tileRect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1000" y="952500"/>
            <a:ext cx="7239000" cy="2857500"/>
          </a:xfrm>
          <a:prstGeom prst="roundRect">
            <a:avLst>
              <a:gd name="adj" fmla="val 2666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33400" y="962025"/>
            <a:ext cx="69342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6" name="Rounded Rectangle 5"/>
          <p:cNvSpPr/>
          <p:nvPr/>
        </p:nvSpPr>
        <p:spPr>
          <a:xfrm>
            <a:off x="381000" y="9525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62050"/>
            <a:ext cx="45720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配置总则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38300"/>
            <a:ext cx="2388870" cy="4343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85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景气定方向</a:t>
            </a:r>
            <a:r>
              <a:rPr sz="285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，估值定仓位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43150"/>
            <a:ext cx="2366010" cy="4114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rPr>
              <a:t>半导体设备不能只看PE高低：</a:t>
            </a:r>
          </a:p>
          <a:p>
            <a:pPr algn="l"/>
            <a:r>
              <a:rPr sz="1350" b="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rPr>
              <a:t>景气决定能否配置，估值决定配置力度与安全边际。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200400"/>
            <a:ext cx="6248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371850"/>
            <a:ext cx="173736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先验证基本面方向，再用估值控制组合暴露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0500" y="952500"/>
            <a:ext cx="4000500" cy="2857500"/>
          </a:xfrm>
          <a:prstGeom prst="roundRect">
            <a:avLst>
              <a:gd name="adj" fmla="val 2666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7962900" y="962025"/>
            <a:ext cx="36957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8077200" y="1162050"/>
            <a:ext cx="68580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先验景气拐点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7200" y="1466850"/>
            <a:ext cx="109728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连续两季信号共振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19431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5800" y="1876425"/>
            <a:ext cx="680085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75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资本开支与招标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800" y="2143125"/>
            <a:ext cx="771525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观察晶圆厂扩产意愿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7200" y="24955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428875"/>
            <a:ext cx="680085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75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订单与合同负债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695575"/>
            <a:ext cx="685800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确认设备需求传导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3048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5800" y="2981325"/>
            <a:ext cx="1263015" cy="19431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75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DRAM / NAND价格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5800" y="3248025"/>
            <a:ext cx="942975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单月波动不作为拐点依据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1000" y="4000500"/>
            <a:ext cx="5905500" cy="2381250"/>
          </a:xfrm>
          <a:prstGeom prst="roundRect">
            <a:avLst>
              <a:gd name="adj" fmla="val 3200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33400" y="4010025"/>
            <a:ext cx="56007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09600" y="4152900"/>
            <a:ext cx="68580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估值约束赔率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4400550"/>
            <a:ext cx="155448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高位预期先约束仓位，不单独决定买卖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1050" y="5738812"/>
            <a:ext cx="4953000" cy="0"/>
          </a:xfrm>
          <a:prstGeom prst="line">
            <a:avLst/>
          </a:prstGeom>
          <a:ln w="9525">
            <a:solidFill>
              <a:srgbClr val="FFFFFF">
                <a:alpha val="85000"/>
              </a:srgbClr>
            </a:solidFill>
            <a:prstDash val="dash"/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781050" y="5476875"/>
            <a:ext cx="4953000" cy="0"/>
          </a:xfrm>
          <a:prstGeom prst="line">
            <a:avLst/>
          </a:prstGeom>
          <a:ln w="9525">
            <a:solidFill>
              <a:srgbClr val="FFFFFF">
                <a:alpha val="85000"/>
              </a:srgbClr>
            </a:solidFill>
            <a:prstDash val="dash"/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781050" y="5214938"/>
            <a:ext cx="4953000" cy="0"/>
          </a:xfrm>
          <a:prstGeom prst="line">
            <a:avLst/>
          </a:prstGeom>
          <a:ln w="9525">
            <a:solidFill>
              <a:srgbClr val="FFFFFF">
                <a:alpha val="85000"/>
              </a:srgbClr>
            </a:solidFill>
            <a:prstDash val="dash"/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781050" y="4953000"/>
            <a:ext cx="4953000" cy="0"/>
          </a:xfrm>
          <a:prstGeom prst="line">
            <a:avLst/>
          </a:prstGeom>
          <a:ln w="9525">
            <a:solidFill>
              <a:srgbClr val="FFFFFF">
                <a:alpha val="85000"/>
              </a:srgbClr>
            </a:solidFill>
            <a:prstDash val="dash"/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781050" y="6000750"/>
            <a:ext cx="4953000" cy="0"/>
          </a:xfrm>
          <a:prstGeom prst="line">
            <a:avLst/>
          </a:prstGeom>
          <a:ln w="9525">
            <a:solidFill>
              <a:srgbClr val="FFFFFF">
                <a:alpha val="85000"/>
              </a:srgbClr>
            </a:solidFill>
            <a:prstDash val="dash"/>
          </a:ln>
          <a:effectLst/>
        </p:spPr>
      </p:cxnSp>
      <p:sp>
        <p:nvSpPr>
          <p:cNvPr id="34" name="Rounded Rectangle 33"/>
          <p:cNvSpPr/>
          <p:nvPr/>
        </p:nvSpPr>
        <p:spPr>
          <a:xfrm>
            <a:off x="1619250" y="5184834"/>
            <a:ext cx="800100" cy="815916"/>
          </a:xfrm>
          <a:prstGeom prst="roundRect">
            <a:avLst>
              <a:gd name="adj" fmla="val 4761"/>
            </a:avLst>
          </a:prstGeom>
          <a:gradFill rotWithShape="1">
            <a:gsLst>
              <a:gs pos="0">
                <a:srgbClr val="3498EF"/>
              </a:gs>
              <a:gs pos="100000">
                <a:srgbClr val="5C62F2">
                  <a:alpha val="92000"/>
                </a:srgbClr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56422" y="5037196"/>
            <a:ext cx="325755" cy="108585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712" b="0">
                <a:solidFill>
                  <a:srgbClr val="0F172A">
                    <a:alpha val="80000"/>
                  </a:srgbClr>
                </a:solidFill>
                <a:latin typeface="Calibri"/>
                <a:ea typeface="Calibri"/>
                <a:cs typeface="Calibri"/>
              </a:rPr>
              <a:t>86.05%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47850" y="6057900"/>
            <a:ext cx="342900" cy="1143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4748B">
                    <a:alpha val="85000"/>
                  </a:srgbClr>
                </a:solidFill>
                <a:latin typeface="Calibri"/>
                <a:ea typeface="Calibri"/>
                <a:cs typeface="Calibri"/>
              </a:rPr>
              <a:t>PE历史分位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95750" y="5081671"/>
            <a:ext cx="800100" cy="919079"/>
          </a:xfrm>
          <a:prstGeom prst="roundRect">
            <a:avLst>
              <a:gd name="adj" fmla="val 4761"/>
            </a:avLst>
          </a:prstGeom>
          <a:gradFill rotWithShape="1">
            <a:gsLst>
              <a:gs pos="0">
                <a:srgbClr val="26D6EB"/>
              </a:gs>
              <a:gs pos="100000">
                <a:srgbClr val="518FEF">
                  <a:alpha val="92000"/>
                </a:srgbClr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32922" y="4934034"/>
            <a:ext cx="325755" cy="108585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712" b="0">
                <a:solidFill>
                  <a:srgbClr val="0F172A">
                    <a:alpha val="80000"/>
                  </a:srgbClr>
                </a:solidFill>
                <a:latin typeface="Calibri"/>
                <a:ea typeface="Calibri"/>
                <a:cs typeface="Calibri"/>
              </a:rPr>
              <a:t>96.93%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24350" y="6057900"/>
            <a:ext cx="342900" cy="1143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4748B">
                    <a:alpha val="85000"/>
                  </a:srgbClr>
                </a:solidFill>
                <a:latin typeface="Calibri"/>
                <a:ea typeface="Calibri"/>
                <a:cs typeface="Calibri"/>
              </a:rPr>
              <a:t>PB历史分位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77000" y="4000500"/>
            <a:ext cx="5334000" cy="2381250"/>
          </a:xfrm>
          <a:prstGeom prst="roundRect">
            <a:avLst>
              <a:gd name="adj" fmla="val 3200"/>
            </a:avLst>
          </a:prstGeom>
          <a:gradFill rotWithShape="1">
            <a:gsLst>
              <a:gs pos="0">
                <a:srgbClr val="FEFEFE">
                  <a:alpha val="96000"/>
                </a:srgbClr>
              </a:gs>
              <a:gs pos="100000">
                <a:srgbClr val="E6EDF6">
                  <a:alpha val="96000"/>
                </a:srgbClr>
              </a:gs>
            </a:gsLst>
            <a:lin scaled="0" ang="18652344"/>
          </a:gra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95250" dist="57150" dir="5400000" rotWithShape="0">
              <a:srgbClr val="0F172A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6629400" y="4010025"/>
            <a:ext cx="5029200" cy="0"/>
          </a:xfrm>
          <a:prstGeom prst="line">
            <a:avLst/>
          </a:prstGeom>
          <a:ln>
            <a:noFill/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6705600" y="4152900"/>
            <a:ext cx="68580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组合执行纪律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05600" y="4419600"/>
            <a:ext cx="128016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把判断转化为可执行的仓位动作</a:t>
            </a:r>
          </a:p>
        </p:txBody>
      </p:sp>
      <p:sp>
        <p:nvSpPr>
          <p:cNvPr id="44" name="Oval 43"/>
          <p:cNvSpPr/>
          <p:nvPr/>
        </p:nvSpPr>
        <p:spPr>
          <a:xfrm>
            <a:off x="6762750" y="4819650"/>
            <a:ext cx="342900" cy="34290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48475" y="4905375"/>
            <a:ext cx="171450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25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77100" y="4781550"/>
            <a:ext cx="720090" cy="2057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未确认，先控仓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77100" y="5048250"/>
            <a:ext cx="1028700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景气未确认时控制初始仓位</a:t>
            </a:r>
          </a:p>
        </p:txBody>
      </p:sp>
      <p:sp>
        <p:nvSpPr>
          <p:cNvPr id="48" name="Oval 47"/>
          <p:cNvSpPr/>
          <p:nvPr/>
        </p:nvSpPr>
        <p:spPr>
          <a:xfrm>
            <a:off x="6762750" y="5353050"/>
            <a:ext cx="342900" cy="34290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48475" y="5438775"/>
            <a:ext cx="171450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25" b="1">
                <a:solidFill>
                  <a:srgbClr val="1D63ED"/>
                </a:solidFill>
                <a:latin typeface="HarmonyOS Sans SC"/>
                <a:ea typeface="HarmonyOS Sans SC"/>
                <a:cs typeface="HarmonyOS Sans SC"/>
              </a:rPr>
              <a:t>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7100" y="5314950"/>
            <a:ext cx="720090" cy="2057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改善，分批加仓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77100" y="5581650"/>
            <a:ext cx="1200150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订单与价格连续改善后逐步加仓</a:t>
            </a:r>
          </a:p>
        </p:txBody>
      </p:sp>
      <p:sp>
        <p:nvSpPr>
          <p:cNvPr id="52" name="Oval 51"/>
          <p:cNvSpPr/>
          <p:nvPr/>
        </p:nvSpPr>
        <p:spPr>
          <a:xfrm>
            <a:off x="6762750" y="5886450"/>
            <a:ext cx="342900" cy="34290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48475" y="5972175"/>
            <a:ext cx="171450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125" b="1">
                <a:solidFill>
                  <a:srgbClr val="1D63ED"/>
                </a:solidFill>
                <a:latin typeface="HarmonyOS Sans SC"/>
                <a:ea typeface="HarmonyOS Sans SC"/>
                <a:cs typeface="HarmonyOS Sans SC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77100" y="5848350"/>
            <a:ext cx="720090" cy="2057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转弱，主动降仓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77100" y="6115050"/>
            <a:ext cx="1114425" cy="17145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125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多项向下信号共振时及时降仓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61950" y="457200"/>
            <a:ext cx="76200" cy="209550"/>
          </a:xfrm>
          <a:prstGeom prst="roundRect">
            <a:avLst>
              <a:gd name="adj" fmla="val 50000"/>
            </a:avLst>
          </a:pr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2450" y="381000"/>
            <a:ext cx="2080260" cy="2971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1950" b="1">
                <a:solidFill>
                  <a:srgbClr val="0F172A"/>
                </a:solidFill>
                <a:latin typeface="system-ui"/>
                <a:ea typeface="system-ui"/>
                <a:cs typeface="system-ui"/>
              </a:rPr>
              <a:t>以</a:t>
            </a:r>
            <a:r>
              <a:rPr sz="195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system-ui"/>
                <a:ea typeface="system-ui"/>
                <a:cs typeface="system-ui"/>
              </a:rPr>
              <a:t>景气验证</a:t>
            </a:r>
            <a:r>
              <a:rPr sz="1950" b="1">
                <a:solidFill>
                  <a:srgbClr val="0F172A"/>
                </a:solidFill>
                <a:latin typeface="system-ui"/>
                <a:ea typeface="system-ui"/>
                <a:cs typeface="system-ui"/>
              </a:rPr>
              <a:t>和估值纪律构建组合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BF1F8"/>
              </a:gs>
            </a:gsLst>
            <a:lin scaled="0" ang="17961465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D63ED">
                  <a:alpha val="10000"/>
                </a:srgbClr>
              </a:gs>
              <a:gs pos="100000">
                <a:srgbClr val="1D63ED">
                  <a:alpha val="0"/>
                </a:srgbClr>
              </a:gs>
            </a:gsLst>
            <a:path path="circle">
              <a:fillToRect l="88000" t="12000" r="12000" b="88000"/>
            </a:path>
            <a:tileRect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1550" y="933450"/>
            <a:ext cx="114300" cy="114300"/>
          </a:xfrm>
          <a:prstGeom prst="ellipse">
            <a:avLst/>
          </a:prstGeom>
          <a:solidFill>
            <a:srgbClr val="1D63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00150" y="933450"/>
            <a:ext cx="114300" cy="114300"/>
          </a:xfrm>
          <a:prstGeom prst="ellipse">
            <a:avLst/>
          </a:prstGeom>
          <a:solidFill>
            <a:srgbClr val="1D63ED">
              <a:alpha val="5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28750" y="933450"/>
            <a:ext cx="114300" cy="114300"/>
          </a:xfrm>
          <a:prstGeom prst="ellipse">
            <a:avLst/>
          </a:prstGeom>
          <a:solidFill>
            <a:srgbClr val="1D63ED">
              <a:alpha val="2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06100" y="550545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1D63ED">
              <a:alpha val="8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277600" y="5505450"/>
            <a:ext cx="228600" cy="57150"/>
          </a:xfrm>
          <a:prstGeom prst="roundRect">
            <a:avLst>
              <a:gd name="adj" fmla="val 50000"/>
            </a:avLst>
          </a:prstGeom>
          <a:solidFill>
            <a:srgbClr val="1D63ED">
              <a:alpha val="3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4450" y="2247900"/>
            <a:ext cx="1943100" cy="7772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5100" b="1">
                <a:solidFill>
                  <a:srgbClr val="0F172A"/>
                </a:solidFill>
                <a:latin typeface="HarmonyOS Sans SC"/>
                <a:ea typeface="HarmonyOS Sans SC"/>
                <a:cs typeface="HarmonyOS Sans SC"/>
              </a:rPr>
              <a:t>总结与</a:t>
            </a:r>
            <a:r>
              <a:rPr sz="5100" b="1">
                <a:gradFill>
                  <a:gsLst>
                    <a:gs pos="0">
                      <a:srgbClr val="1D63ED"/>
                    </a:gs>
                    <a:gs pos="100000">
                      <a:srgbClr val="194BAE"/>
                    </a:gs>
                  </a:gsLst>
                  <a:lin ang="4557825" scaled="1"/>
                </a:gradFill>
                <a:latin typeface="HarmonyOS Sans SC"/>
                <a:ea typeface="HarmonyOS Sans SC"/>
                <a:cs typeface="HarmonyOS Sans SC"/>
              </a:rPr>
              <a:t>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5760" y="3257550"/>
            <a:ext cx="3840480" cy="3657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景气复苏提供需求底盘，国产替代打开成长空间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240" y="3790950"/>
            <a:ext cx="3017520" cy="2514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334155"/>
                </a:solidFill>
                <a:latin typeface="HarmonyOS Sans SC"/>
                <a:ea typeface="HarmonyOS Sans SC"/>
                <a:cs typeface="HarmonyOS Sans SC"/>
              </a:rPr>
              <a:t>以订单兑现、盈利质量与估值纪律筛选高质量设备龙头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4385" y="4324350"/>
            <a:ext cx="2983230" cy="2057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重点关注 AI 存储、先进封装及国产化率较低的细分设备环节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7255" y="4629150"/>
            <a:ext cx="2777490" cy="2057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64748B"/>
                </a:solidFill>
                <a:latin typeface="HarmonyOS Sans SC"/>
                <a:ea typeface="HarmonyOS Sans SC"/>
                <a:cs typeface="HarmonyOS Sans SC"/>
              </a:rPr>
              <a:t>持续跟踪景气验证、订单兑现与估值变化，动态优化配置组合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