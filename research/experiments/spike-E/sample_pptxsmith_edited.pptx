
<file path=[Content_Types].xml><?xml version="1.0" encoding="utf-8"?>
<Types xmlns="http://schemas.openxmlformats.org/package/2006/content-types">
  <Default Extension="jpeg" ContentType="image/jpe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320" b="1" i="0" u="none" strike="noStrike" kern="1200" baseline="0">
                <a:solidFill>
                  <a:schemeClr val="tx1"/>
                </a:solidFill>
                <a:latin typeface="Noto Sans SC" panose="020B0200000000000000" charset="-122"/>
                <a:ea typeface="+mn-ea"/>
                <a:cs typeface="+mn-cs"/>
              </a:defRPr>
            </a:pPr>
            <a:r>
              <a:t>季度营业收入与同比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营业收入（亿元）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12.4</c:v>
                </c:pt>
                <c:pt idx="1">
                  <c:v>88.8</c:v>
                </c:pt>
                <c:pt idx="2">
                  <c:v>14.6</c:v>
                </c:pt>
                <c:pt idx="3">
                  <c:v>18.6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同比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0.086</c:v>
                </c:pt>
                <c:pt idx="1">
                  <c:v>0.124</c:v>
                </c:pt>
                <c:pt idx="2">
                  <c:v>-0.037</c:v>
                </c:pt>
                <c:pt idx="3">
                  <c:v>0.093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/>
                </a:solidFill>
                <a:latin typeface="Noto Sans SC" panose="020B0200000000000000" charset="-122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/>
                </a:solidFill>
                <a:latin typeface="Noto Sans SC" panose="020B0200000000000000" charset="-122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/>
              </a:solidFill>
              <a:latin typeface="Noto Sans SC" panose="020B0200000000000000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lang="zh-CN" sz="1100">
          <a:latin typeface="Noto Sans SC" panose="020B0200000000000000" charset="-122"/>
        </a:defRPr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受控信息：客户代号 CUSTOMER-ALPHA-017，成本中心 CC-2407，联系人 owner@example.invalid。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Noto Sans SC" panose="020B0200000000000000" charset="-122"/>
              </a:rPr>
              <a:t>2026 年第二季度经营回顾与下半年增长计划</a:t>
            </a:r>
            <a:endParaRPr sz="4000" b="1">
              <a:solidFill>
                <a:srgbClr val="1A1A1A"/>
              </a:solidFill>
              <a:latin typeface="Noto Sans SC" panose="020B02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3566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52D4"/>
                </a:solidFill>
                <a:latin typeface="Noto Sans SC" panose="020B0200000000000000" charset="-122"/>
              </a:rPr>
              <a:t>从经营结果到行动闭环</a:t>
            </a:r>
            <a:endParaRPr sz="1800">
              <a:solidFill>
                <a:srgbClr val="0052D4"/>
              </a:solidFill>
              <a:latin typeface="Noto Sans SC" panose="020B02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2057400"/>
            <a:ext cx="50800" cy="1828800"/>
          </a:xfrm>
          <a:prstGeom prst="rect">
            <a:avLst/>
          </a:prstGeom>
          <a:solidFill>
            <a:srgbClr val="005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Noto Sans SC" panose="020B0200000000000000" charset="-122"/>
              </a:rPr>
              <a:t>AI PPTX Compiler / PowerPoint / WPS / Q2 中英混排</a:t>
            </a:r>
            <a:endParaRPr sz="1200">
              <a:solidFill>
                <a:srgbClr val="64748B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Noto Sans SC" panose="020B0200000000000000" charset="-122"/>
              </a:rPr>
              <a:t>季度营业收入与同比</a:t>
            </a:r>
            <a:endParaRPr sz="2600" b="1">
              <a:solidFill>
                <a:srgbClr val="1A1A1A"/>
              </a:solidFill>
              <a:latin typeface="Noto Sans SC" panose="020B0200000000000000" charset="-122"/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34440"/>
          <a:ext cx="73152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Noto Sans SC" panose="020B0200000000000000" charset="-122"/>
              </a:rPr>
              <a:t>分部门经营概览</a:t>
            </a:r>
            <a:endParaRPr sz="2600" b="1">
              <a:solidFill>
                <a:srgbClr val="1A1A1A"/>
              </a:solidFill>
              <a:latin typeface="Noto Sans SC" panose="020B0200000000000000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5120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Noto Sans SC" panose="020B0200000000000000" charset="-122"/>
                        </a:rPr>
                        <a:t>部门</a:t>
                      </a:r>
                      <a:endParaRPr sz="1100" b="1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Noto Sans SC" panose="020B0200000000000000" charset="-122"/>
                        </a:rPr>
                        <a:t>收入（亿元）</a:t>
                      </a:r>
                      <a:endParaRPr sz="1100" b="1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Noto Sans SC" panose="020B0200000000000000" charset="-122"/>
                        </a:rPr>
                        <a:t>毛利率</a:t>
                      </a:r>
                      <a:endParaRPr sz="1100" b="1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Noto Sans SC" panose="020B0200000000000000" charset="-122"/>
                        </a:rPr>
                        <a:t>同比</a:t>
                      </a:r>
                      <a:endParaRPr sz="1100" b="1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 panose="020B0200000000000000" charset="-122"/>
                        </a:rPr>
                        <a:t>华东</a:t>
                      </a:r>
                      <a:endParaRPr sz="1100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 panose="020B0200000000000000" charset="-122"/>
                        </a:rPr>
                        <a:t>9.9</a:t>
                      </a:r>
                      <a:endParaRPr sz="1100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 panose="020B0200000000000000" charset="-122"/>
                        </a:rPr>
                        <a:t>23.1%</a:t>
                      </a:r>
                      <a:endParaRPr sz="1100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 panose="020B0200000000000000" charset="-122"/>
                        </a:rPr>
                        <a:t>+15.8%</a:t>
                      </a:r>
                      <a:endParaRPr sz="1100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 panose="020B0200000000000000" charset="-122"/>
                        </a:rPr>
                        <a:t>华南</a:t>
                      </a:r>
                      <a:endParaRPr sz="1100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 panose="020B0200000000000000" charset="-122"/>
                        </a:rPr>
                        <a:t>4.1</a:t>
                      </a:r>
                      <a:endParaRPr sz="1100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 panose="020B0200000000000000" charset="-122"/>
                        </a:rPr>
                        <a:t>22.6%</a:t>
                      </a:r>
                      <a:endParaRPr sz="1100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 panose="020B0200000000000000" charset="-122"/>
                        </a:rPr>
                        <a:t>+12.1%</a:t>
                      </a:r>
                      <a:endParaRPr sz="1100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 panose="020B0200000000000000" charset="-122"/>
                        </a:rPr>
                        <a:t>华北</a:t>
                      </a:r>
                      <a:endParaRPr sz="1100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 panose="020B0200000000000000" charset="-122"/>
                        </a:rPr>
                        <a:t>3.2</a:t>
                      </a:r>
                      <a:endParaRPr sz="1100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 panose="020B0200000000000000" charset="-122"/>
                        </a:rPr>
                        <a:t>17.2%</a:t>
                      </a:r>
                      <a:endParaRPr sz="1100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 panose="020B0200000000000000" charset="-122"/>
                        </a:rPr>
                        <a:t>-4.1%</a:t>
                      </a:r>
                      <a:endParaRPr sz="1100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 panose="020B0200000000000000" charset="-122"/>
                        </a:rPr>
                        <a:t>其他</a:t>
                      </a:r>
                      <a:endParaRPr sz="1100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 panose="020B0200000000000000" charset="-122"/>
                        </a:rPr>
                        <a:t>1.4</a:t>
                      </a:r>
                      <a:endParaRPr sz="1100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 panose="020B0200000000000000" charset="-122"/>
                        </a:rPr>
                        <a:t>—</a:t>
                      </a:r>
                      <a:endParaRPr sz="1100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 panose="020B0200000000000000" charset="-122"/>
                        </a:rPr>
                        <a:t>+3.5%</a:t>
                      </a:r>
                      <a:endParaRPr sz="1100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 panose="020B0200000000000000" charset="-122"/>
                        </a:rPr>
                        <a:t>合计</a:t>
                      </a:r>
                      <a:endParaRPr sz="1100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 panose="020B0200000000000000" charset="-122"/>
                        </a:rPr>
                        <a:t>15.1</a:t>
                      </a:r>
                      <a:endParaRPr sz="1100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 panose="020B0200000000000000" charset="-122"/>
                        </a:rPr>
                        <a:t>21.3%</a:t>
                      </a:r>
                      <a:endParaRPr sz="1100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Noto Sans SC" panose="020B0200000000000000" charset="-122"/>
                        </a:rPr>
                        <a:t>+12.4%</a:t>
                      </a:r>
                      <a:endParaRPr sz="1100">
                        <a:latin typeface="Noto Sans SC" panose="020B0200000000000000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118872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Noto Sans SC" panose="020B0200000000000000" charset="-122"/>
              </a:rPr>
              <a:t>第二季度公司整体经营保持稳健增长，收入结构与毛利水平同步改善，但在部门之间仍存在明显分化：华东与华南区域的交付节奏好于预期，华北区域的回款周期偏长，导致现金流净额与经营利润之间出现时间性缺口。同时，外部市场环境的不确定性上升，客户对价格与交付周期的敏感度提高，我们在报价环节需要更充分地使用标准化的成本模型，避免过去的经验判断带来毛利损失。</a:t>
            </a:r>
            <a:endParaRPr sz="1200">
              <a:solidFill>
                <a:srgbClr val="1A1A1A"/>
              </a:solidFill>
              <a:latin typeface="Noto Sans SC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0" y="3840480"/>
            <a:ext cx="6035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Noto Sans SC" panose="020B0200000000000000" charset="-122"/>
              </a:rPr>
              <a:t>固定事实（来自 XLSX 规范值）：</a:t>
            </a:r>
            <a:endParaRPr sz="1100">
              <a:solidFill>
                <a:srgbClr val="64748B"/>
              </a:solidFill>
              <a:latin typeface="Noto Sans SC" panose="020B0200000000000000" charset="-122"/>
            </a:endParaRPr>
          </a:p>
          <a:p>
            <a:r>
              <a:rPr sz="1100">
                <a:solidFill>
                  <a:srgbClr val="64748B"/>
                </a:solidFill>
                <a:latin typeface="Noto Sans SC" panose="020B0200000000000000" charset="-122"/>
              </a:rPr>
              <a:t>  营业收入 15.1 亿元</a:t>
            </a:r>
            <a:endParaRPr sz="1100">
              <a:solidFill>
                <a:srgbClr val="64748B"/>
              </a:solidFill>
              <a:latin typeface="Noto Sans SC" panose="020B0200000000000000" charset="-122"/>
            </a:endParaRPr>
          </a:p>
          <a:p>
            <a:r>
              <a:rPr sz="1100">
                <a:solidFill>
                  <a:srgbClr val="64748B"/>
                </a:solidFill>
                <a:latin typeface="Noto Sans SC" panose="020B0200000000000000" charset="-122"/>
              </a:rPr>
              <a:t>  预算 18.6 亿元</a:t>
            </a:r>
            <a:endParaRPr sz="1100">
              <a:solidFill>
                <a:srgbClr val="64748B"/>
              </a:solidFill>
              <a:latin typeface="Noto Sans SC" panose="020B0200000000000000" charset="-122"/>
            </a:endParaRPr>
          </a:p>
          <a:p>
            <a:r>
              <a:rPr sz="1100">
                <a:solidFill>
                  <a:srgbClr val="64748B"/>
                </a:solidFill>
                <a:latin typeface="Noto Sans SC" panose="020B0200000000000000" charset="-122"/>
              </a:rPr>
              <a:t>  同比 +12.4%</a:t>
            </a:r>
            <a:endParaRPr sz="1100">
              <a:solidFill>
                <a:srgbClr val="64748B"/>
              </a:solidFill>
              <a:latin typeface="Noto Sans SC" panose="020B0200000000000000" charset="-122"/>
            </a:endParaRPr>
          </a:p>
          <a:p>
            <a:r>
              <a:rPr sz="1100">
                <a:solidFill>
                  <a:srgbClr val="64748B"/>
                </a:solidFill>
                <a:latin typeface="Noto Sans SC" panose="020B0200000000000000" charset="-122"/>
              </a:rPr>
              <a:t>  毛利率 21.3%</a:t>
            </a:r>
            <a:endParaRPr sz="1100">
              <a:solidFill>
                <a:srgbClr val="64748B"/>
              </a:solidFill>
              <a:latin typeface="Noto Sans SC" panose="020B0200000000000000" charset="-122"/>
            </a:endParaRPr>
          </a:p>
          <a:p>
            <a:r>
              <a:rPr sz="1100">
                <a:solidFill>
                  <a:srgbClr val="64748B"/>
                </a:solidFill>
                <a:latin typeface="Noto Sans SC" panose="020B0200000000000000" charset="-122"/>
              </a:rPr>
              <a:t>OCR/C1 探针目标：图表 Q2 营收 15.1 → 88.8</a:t>
            </a:r>
            <a:endParaRPr sz="1100">
              <a:solidFill>
                <a:srgbClr val="64748B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</Words>
  <Application>WPS 演示</Application>
  <PresentationFormat>On-screen Show (4:3)</PresentationFormat>
  <Paragraphs>67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Arial</vt:lpstr>
      <vt:lpstr>Noto Sans SC</vt:lpstr>
      <vt:lpstr>Calibri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98147</cp:lastModifiedBy>
  <cp:revision>2</cp:revision>
  <dcterms:created xsi:type="dcterms:W3CDTF">2013-01-27T09:14:00Z</dcterms:created>
  <dcterms:modified xsi:type="dcterms:W3CDTF">2026-09-25T17:25:30Z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2052-11.8.2.8411</vt:lpwstr>
  </property>
</Properties>
</file>