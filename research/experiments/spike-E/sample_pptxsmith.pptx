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季度营业收入与同比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营业收入（亿元）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12.4</c:v>
                </c:pt>
                <c:pt idx="1">
                  <c:v>15.1</c:v>
                </c:pt>
                <c:pt idx="2">
                  <c:v>14.6</c:v>
                </c:pt>
                <c:pt idx="3">
                  <c:v>18.6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0.086</c:v>
                </c:pt>
                <c:pt idx="1">
                  <c:v>0.124</c:v>
                </c:pt>
                <c:pt idx="2">
                  <c:v>-0.037</c:v>
                </c:pt>
                <c:pt idx="3">
                  <c:v>0.093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Noto Sans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受控信息：客户代号 CUSTOMER-ALPHA-017，成本中心 CC-2407，联系人 owner@example.invalid。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Noto Sans SC"/>
              </a:rPr>
              <a:t>2026 年第二季度经营回顾与下半年增长计划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52D4"/>
                </a:solidFill>
                <a:latin typeface="Noto Sans SC"/>
              </a:rPr>
              <a:t>从经营结果到行动闭环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0800" cy="1828800"/>
          </a:xfrm>
          <a:prstGeom prst="rect">
            <a:avLst/>
          </a:prstGeom>
          <a:solidFill>
            <a:srgbClr val="0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Noto Sans SC"/>
              </a:rPr>
              <a:t>AI PPTX Compiler / PowerPoint / WPS / Q2 中英混排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Noto Sans SC"/>
              </a:rPr>
              <a:t>季度营业收入与同比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3444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Noto Sans SC"/>
              </a:rPr>
              <a:t>分部门经营概览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/>
                        </a:rPr>
                        <a:t>部门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/>
                        </a:rPr>
                        <a:t>收入（亿元）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/>
                        </a:rPr>
                        <a:t>毛利率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/>
                        </a:rPr>
                        <a:t>同比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华东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6.4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23.1%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+15.8%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华南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22.6%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+12.1%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华北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17.2%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-4.1%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其他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+3.5%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15.1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21.3%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/>
                        </a:rPr>
                        <a:t>+12.4%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18872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Noto Sans SC"/>
              </a:rPr>
              <a:t>第二季度公司整体经营保持稳健增长，收入结构与毛利水平同步改善，但在部门之间仍存在明显分化：华东与华南区域的交付节奏好于预期，华北区域的回款周期偏长，导致现金流净额与经营利润之间出现时间性缺口。同时，外部市场环境的不确定性上升，客户对价格与交付周期的敏感度提高，我们在报价环节需要更充分地使用标准化的成本模型，避免过去的经验判断带来毛利损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38404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Noto Sans SC"/>
              </a:rPr>
              <a:t>固定事实（来自 XLSX 规范值）：</a:t>
            </a:r>
          </a:p>
          <a:p>
            <a:r>
              <a:rPr sz="1100">
                <a:solidFill>
                  <a:srgbClr val="64748B"/>
                </a:solidFill>
                <a:latin typeface="Noto Sans SC"/>
              </a:rPr>
              <a:t>  营业收入 15.1 亿元</a:t>
            </a:r>
          </a:p>
          <a:p>
            <a:r>
              <a:rPr sz="1100">
                <a:solidFill>
                  <a:srgbClr val="64748B"/>
                </a:solidFill>
                <a:latin typeface="Noto Sans SC"/>
              </a:rPr>
              <a:t>  预算 18.6 亿元</a:t>
            </a:r>
          </a:p>
          <a:p>
            <a:r>
              <a:rPr sz="1100">
                <a:solidFill>
                  <a:srgbClr val="64748B"/>
                </a:solidFill>
                <a:latin typeface="Noto Sans SC"/>
              </a:rPr>
              <a:t>  同比 +12.4%</a:t>
            </a:r>
          </a:p>
          <a:p>
            <a:r>
              <a:rPr sz="1100">
                <a:solidFill>
                  <a:srgbClr val="64748B"/>
                </a:solidFill>
                <a:latin typeface="Noto Sans SC"/>
              </a:rPr>
              <a:t>  毛利率 21.3%</a:t>
            </a:r>
          </a:p>
          <a:p>
            <a:r>
              <a:rPr sz="1100">
                <a:solidFill>
                  <a:srgbClr val="64748B"/>
                </a:solidFill>
                <a:latin typeface="Noto Sans SC"/>
              </a:rPr>
              <a:t>OCR/C1 探针目标：图表 Q2 营收 15.1 → 88.8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